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4" r:id="rId9"/>
    <p:sldId id="263" r:id="rId10"/>
    <p:sldId id="265" r:id="rId11"/>
    <p:sldId id="266" r:id="rId12"/>
  </p:sldIdLst>
  <p:sldSz cx="12192000" cy="6858000"/>
  <p:notesSz cx="6858000" cy="9144000"/>
  <p:embeddedFontLst>
    <p:embeddedFont>
      <p:font typeface="Inter" panose="020B0604020202020204" charset="0"/>
      <p:regular r:id="rId14"/>
      <p:bold r:id="rId15"/>
      <p:italic r:id="rId16"/>
      <p:boldItalic r:id="rId17"/>
    </p:embeddedFont>
    <p:embeddedFont>
      <p:font typeface="Open Sans" panose="020B0606030504020204" pitchFamily="34" charset="0"/>
      <p:regular r:id="rId18"/>
      <p:bold r:id="rId19"/>
      <p:italic r:id="rId20"/>
      <p:boldItalic r:id="rId21"/>
    </p:embeddedFont>
    <p:embeddedFont>
      <p:font typeface="Play" panose="020B0604020202020204" charset="0"/>
      <p:regular r:id="rId22"/>
      <p:bold r:id="rId23"/>
    </p:embeddedFont>
    <p:embeddedFont>
      <p:font typeface="Plus Jakarta Sans"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iSG0qp3kPSosT0kncywc7O6P2T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 name="Google Shape;3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 name="Google Shape;4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 name="Google Shape;5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 name="Google Shape;6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 name="Google Shape;7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DEA5BFDC-272B-E047-38D2-846A59639A74}"/>
            </a:ext>
          </a:extLst>
        </p:cNvPr>
        <p:cNvGrpSpPr/>
        <p:nvPr/>
      </p:nvGrpSpPr>
      <p:grpSpPr>
        <a:xfrm>
          <a:off x="0" y="0"/>
          <a:ext cx="0" cy="0"/>
          <a:chOff x="0" y="0"/>
          <a:chExt cx="0" cy="0"/>
        </a:xfrm>
      </p:grpSpPr>
      <p:sp>
        <p:nvSpPr>
          <p:cNvPr id="108" name="Google Shape;108;p5:notes">
            <a:extLst>
              <a:ext uri="{FF2B5EF4-FFF2-40B4-BE49-F238E27FC236}">
                <a16:creationId xmlns:a16="http://schemas.microsoft.com/office/drawing/2014/main" id="{E5878D75-F764-45AA-1C36-D8C34FC556A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5:notes">
            <a:extLst>
              <a:ext uri="{FF2B5EF4-FFF2-40B4-BE49-F238E27FC236}">
                <a16:creationId xmlns:a16="http://schemas.microsoft.com/office/drawing/2014/main" id="{72FACD32-B7D7-41C3-FABD-E6FD5A447D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4338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DAB9BF3-1631-CBB5-E2C5-E4910169FD82}"/>
            </a:ext>
          </a:extLst>
        </p:cNvPr>
        <p:cNvGrpSpPr/>
        <p:nvPr/>
      </p:nvGrpSpPr>
      <p:grpSpPr>
        <a:xfrm>
          <a:off x="0" y="0"/>
          <a:ext cx="0" cy="0"/>
          <a:chOff x="0" y="0"/>
          <a:chExt cx="0" cy="0"/>
        </a:xfrm>
      </p:grpSpPr>
      <p:sp>
        <p:nvSpPr>
          <p:cNvPr id="108" name="Google Shape;108;p5:notes">
            <a:extLst>
              <a:ext uri="{FF2B5EF4-FFF2-40B4-BE49-F238E27FC236}">
                <a16:creationId xmlns:a16="http://schemas.microsoft.com/office/drawing/2014/main" id="{992A06D3-3A58-9493-F47B-21CA826B48E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5:notes">
            <a:extLst>
              <a:ext uri="{FF2B5EF4-FFF2-40B4-BE49-F238E27FC236}">
                <a16:creationId xmlns:a16="http://schemas.microsoft.com/office/drawing/2014/main" id="{C72C840A-477E-D589-B0EF-63C9D1BAC9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8788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10"/>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1"/>
        <p:cNvGrpSpPr/>
        <p:nvPr/>
      </p:nvGrpSpPr>
      <p:grpSpPr>
        <a:xfrm>
          <a:off x="0" y="0"/>
          <a:ext cx="0" cy="0"/>
          <a:chOff x="0" y="0"/>
          <a:chExt cx="0" cy="0"/>
        </a:xfrm>
      </p:grpSpPr>
      <p:sp>
        <p:nvSpPr>
          <p:cNvPr id="12" name="Google Shape;12;p8"/>
          <p:cNvSpPr>
            <a:spLocks noGrp="1"/>
          </p:cNvSpPr>
          <p:nvPr>
            <p:ph type="pic" idx="2"/>
          </p:nvPr>
        </p:nvSpPr>
        <p:spPr>
          <a:xfrm>
            <a:off x="1055687" y="1268413"/>
            <a:ext cx="4319586" cy="5040312"/>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3"/>
        <p:cNvGrpSpPr/>
        <p:nvPr/>
      </p:nvGrpSpPr>
      <p:grpSpPr>
        <a:xfrm>
          <a:off x="0" y="0"/>
          <a:ext cx="0" cy="0"/>
          <a:chOff x="0" y="0"/>
          <a:chExt cx="0" cy="0"/>
        </a:xfrm>
      </p:grpSpPr>
      <p:sp>
        <p:nvSpPr>
          <p:cNvPr id="14" name="Google Shape;14;p10"/>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1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8_Title Slide">
  <p:cSld name="28_Title Slide">
    <p:spTree>
      <p:nvGrpSpPr>
        <p:cNvPr id="1" name="Shape 1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1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0_Title Slide">
  <p:cSld name="30_Title Slide">
    <p:spTree>
      <p:nvGrpSpPr>
        <p:cNvPr id="1" name="Shape 18"/>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1_Title Slide">
  <p:cSld name="31_Title Slide">
    <p:spTree>
      <p:nvGrpSpPr>
        <p:cNvPr id="1" name="Shape 19"/>
        <p:cNvGrpSpPr/>
        <p:nvPr/>
      </p:nvGrpSpPr>
      <p:grpSpPr>
        <a:xfrm>
          <a:off x="0" y="0"/>
          <a:ext cx="0" cy="0"/>
          <a:chOff x="0" y="0"/>
          <a:chExt cx="0" cy="0"/>
        </a:xfrm>
      </p:grpSpPr>
      <p:sp>
        <p:nvSpPr>
          <p:cNvPr id="20" name="Google Shape;20;p15"/>
          <p:cNvSpPr>
            <a:spLocks noGrp="1"/>
          </p:cNvSpPr>
          <p:nvPr>
            <p:ph type="pic" idx="2"/>
          </p:nvPr>
        </p:nvSpPr>
        <p:spPr>
          <a:xfrm>
            <a:off x="-1" y="0"/>
            <a:ext cx="9696450" cy="4868863"/>
          </a:xfrm>
          <a:prstGeom prst="rect">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21"/>
        <p:cNvGrpSpPr/>
        <p:nvPr/>
      </p:nvGrpSpPr>
      <p:grpSpPr>
        <a:xfrm>
          <a:off x="0" y="0"/>
          <a:ext cx="0" cy="0"/>
          <a:chOff x="0" y="0"/>
          <a:chExt cx="0" cy="0"/>
        </a:xfrm>
      </p:grpSpPr>
      <p:sp>
        <p:nvSpPr>
          <p:cNvPr id="22" name="Google Shape;22;p16"/>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23" name="Google Shape;23;p16"/>
          <p:cNvSpPr>
            <a:spLocks noGrp="1"/>
          </p:cNvSpPr>
          <p:nvPr>
            <p:ph type="pic" idx="2"/>
          </p:nvPr>
        </p:nvSpPr>
        <p:spPr>
          <a:xfrm>
            <a:off x="6816725" y="1268413"/>
            <a:ext cx="2381023" cy="2976935"/>
          </a:xfrm>
          <a:prstGeom prst="rect">
            <a:avLst/>
          </a:prstGeom>
          <a:solidFill>
            <a:srgbClr val="F2F2F2"/>
          </a:solidFill>
          <a:ln>
            <a:noFill/>
          </a:ln>
        </p:spPr>
      </p:sp>
      <p:sp>
        <p:nvSpPr>
          <p:cNvPr id="24" name="Google Shape;24;p16"/>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3_Title Slide">
  <p:cSld name="33_Title Slide">
    <p:spTree>
      <p:nvGrpSpPr>
        <p:cNvPr id="1" name="Shape 25"/>
        <p:cNvGrpSpPr/>
        <p:nvPr/>
      </p:nvGrpSpPr>
      <p:grpSpPr>
        <a:xfrm>
          <a:off x="0" y="0"/>
          <a:ext cx="0" cy="0"/>
          <a:chOff x="0" y="0"/>
          <a:chExt cx="0" cy="0"/>
        </a:xfrm>
      </p:grpSpPr>
      <p:sp>
        <p:nvSpPr>
          <p:cNvPr id="26" name="Google Shape;26;p17"/>
          <p:cNvSpPr>
            <a:spLocks noGrp="1"/>
          </p:cNvSpPr>
          <p:nvPr>
            <p:ph type="pic" idx="2"/>
          </p:nvPr>
        </p:nvSpPr>
        <p:spPr>
          <a:xfrm>
            <a:off x="-1" y="549274"/>
            <a:ext cx="4995082" cy="5759450"/>
          </a:xfrm>
          <a:prstGeom prst="rect">
            <a:avLst/>
          </a:prstGeom>
          <a:solidFill>
            <a:srgbClr val="F2F2F2"/>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4_Title Slide">
  <p:cSld name="34_Title Slide">
    <p:spTree>
      <p:nvGrpSpPr>
        <p:cNvPr id="1" name="Shape 27"/>
        <p:cNvGrpSpPr/>
        <p:nvPr/>
      </p:nvGrpSpPr>
      <p:grpSpPr>
        <a:xfrm>
          <a:off x="0" y="0"/>
          <a:ext cx="0" cy="0"/>
          <a:chOff x="0" y="0"/>
          <a:chExt cx="0" cy="0"/>
        </a:xfrm>
      </p:grpSpPr>
      <p:sp>
        <p:nvSpPr>
          <p:cNvPr id="28" name="Google Shape;28;p18"/>
          <p:cNvSpPr>
            <a:spLocks noGrp="1"/>
          </p:cNvSpPr>
          <p:nvPr>
            <p:ph type="pic" idx="2"/>
          </p:nvPr>
        </p:nvSpPr>
        <p:spPr>
          <a:xfrm>
            <a:off x="6095999" y="1270000"/>
            <a:ext cx="6096001" cy="4319588"/>
          </a:xfrm>
          <a:prstGeom prst="rect">
            <a:avLst/>
          </a:prstGeom>
          <a:solidFill>
            <a:srgbClr val="F2F2F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1"/>
          <p:cNvSpPr/>
          <p:nvPr/>
        </p:nvSpPr>
        <p:spPr>
          <a:xfrm>
            <a:off x="894443" y="2785105"/>
            <a:ext cx="7801501" cy="584735"/>
          </a:xfrm>
          <a:prstGeom prst="rect">
            <a:avLst/>
          </a:prstGeom>
          <a:noFill/>
          <a:ln>
            <a:noFill/>
          </a:ln>
        </p:spPr>
        <p:txBody>
          <a:bodyPr spcFirstLastPara="1" wrap="square" lIns="91425" tIns="45700" rIns="91425" bIns="45700" anchor="t" anchorCtr="0">
            <a:spAutoFit/>
          </a:bodyPr>
          <a:lstStyle/>
          <a:p>
            <a:pPr lvl="0" algn="ctr">
              <a:buSzPts val="3200"/>
            </a:pPr>
            <a:r>
              <a:rPr lang="en-IN" sz="3200" b="1" dirty="0">
                <a:latin typeface="Times New Roman" panose="02020603050405020304" pitchFamily="18" charset="0"/>
                <a:cs typeface="Times New Roman" panose="02020603050405020304" pitchFamily="18" charset="0"/>
              </a:rPr>
              <a:t>ANPR Model For Smart Parking System</a:t>
            </a:r>
            <a:endParaRPr sz="1400" b="1" i="0" u="none" strike="noStrike" cap="none" dirty="0">
              <a:solidFill>
                <a:srgbClr val="000000"/>
              </a:solidFill>
              <a:latin typeface="Times New Roman" panose="02020603050405020304" pitchFamily="18" charset="0"/>
              <a:ea typeface="Inter"/>
              <a:cs typeface="Times New Roman" panose="02020603050405020304" pitchFamily="18" charset="0"/>
              <a:sym typeface="Inter"/>
            </a:endParaRPr>
          </a:p>
        </p:txBody>
      </p:sp>
      <p:grpSp>
        <p:nvGrpSpPr>
          <p:cNvPr id="34" name="Google Shape;34;p1"/>
          <p:cNvGrpSpPr/>
          <p:nvPr/>
        </p:nvGrpSpPr>
        <p:grpSpPr>
          <a:xfrm>
            <a:off x="894442" y="2675335"/>
            <a:ext cx="7225408" cy="940767"/>
            <a:chOff x="894442" y="2675335"/>
            <a:chExt cx="7570108" cy="940767"/>
          </a:xfrm>
        </p:grpSpPr>
        <p:sp>
          <p:nvSpPr>
            <p:cNvPr id="35" name="Google Shape;35;p1"/>
            <p:cNvSpPr/>
            <p:nvPr/>
          </p:nvSpPr>
          <p:spPr>
            <a:xfrm>
              <a:off x="894442" y="2675335"/>
              <a:ext cx="7570108" cy="45719"/>
            </a:xfrm>
            <a:prstGeom prst="rect">
              <a:avLst/>
            </a:prstGeom>
            <a:solidFill>
              <a:srgbClr val="A582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Inter"/>
                <a:ea typeface="Inter"/>
                <a:cs typeface="Inter"/>
                <a:sym typeface="Inter"/>
              </a:endParaRPr>
            </a:p>
          </p:txBody>
        </p:sp>
        <p:sp>
          <p:nvSpPr>
            <p:cNvPr id="36" name="Google Shape;36;p1"/>
            <p:cNvSpPr/>
            <p:nvPr/>
          </p:nvSpPr>
          <p:spPr>
            <a:xfrm>
              <a:off x="894442" y="3570383"/>
              <a:ext cx="7570108" cy="45719"/>
            </a:xfrm>
            <a:prstGeom prst="rect">
              <a:avLst/>
            </a:prstGeom>
            <a:solidFill>
              <a:srgbClr val="A582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Inter"/>
                <a:ea typeface="Inter"/>
                <a:cs typeface="Inter"/>
                <a:sym typeface="Inter"/>
              </a:endParaRPr>
            </a:p>
          </p:txBody>
        </p:sp>
      </p:grpSp>
      <p:sp>
        <p:nvSpPr>
          <p:cNvPr id="37" name="Google Shape;37;p1"/>
          <p:cNvSpPr txBox="1"/>
          <p:nvPr/>
        </p:nvSpPr>
        <p:spPr>
          <a:xfrm>
            <a:off x="958071" y="4401380"/>
            <a:ext cx="3175017"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rgbClr val="004740"/>
                </a:solidFill>
                <a:latin typeface="Inter"/>
                <a:ea typeface="Inter"/>
                <a:cs typeface="Inter"/>
                <a:sym typeface="Inter"/>
              </a:rPr>
              <a:t>C H UDAY  KUMAR</a:t>
            </a: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4740"/>
                </a:solidFill>
                <a:latin typeface="Inter"/>
                <a:ea typeface="Inter"/>
                <a:cs typeface="Inter"/>
                <a:sym typeface="Inter"/>
              </a:rPr>
              <a:t>BU22CSEN0300538</a:t>
            </a:r>
            <a:endParaRPr sz="1400" b="0" i="0" u="none" strike="noStrike" cap="none" dirty="0">
              <a:solidFill>
                <a:srgbClr val="000000"/>
              </a:solidFill>
              <a:latin typeface="Inter"/>
              <a:ea typeface="Inter"/>
              <a:cs typeface="Inter"/>
              <a:sym typeface="Inter"/>
            </a:endParaRPr>
          </a:p>
        </p:txBody>
      </p:sp>
      <p:sp>
        <p:nvSpPr>
          <p:cNvPr id="38" name="Google Shape;38;p1"/>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Inter"/>
                <a:ea typeface="Inter"/>
                <a:cs typeface="Inter"/>
                <a:sym typeface="Inter"/>
              </a:rPr>
              <a:t>Dept of Computer Science &amp; Engineering</a:t>
            </a:r>
            <a:endParaRPr/>
          </a:p>
        </p:txBody>
      </p:sp>
      <p:pic>
        <p:nvPicPr>
          <p:cNvPr id="39" name="Google Shape;39;p1"/>
          <p:cNvPicPr preferRelativeResize="0"/>
          <p:nvPr/>
        </p:nvPicPr>
        <p:blipFill rotWithShape="1">
          <a:blip r:embed="rId3">
            <a:alphaModFix/>
          </a:blip>
          <a:srcRect/>
          <a:stretch/>
        </p:blipFill>
        <p:spPr>
          <a:xfrm>
            <a:off x="9657588" y="5780138"/>
            <a:ext cx="2100001" cy="900000"/>
          </a:xfrm>
          <a:prstGeom prst="rect">
            <a:avLst/>
          </a:prstGeom>
          <a:noFill/>
          <a:ln>
            <a:noFill/>
          </a:ln>
        </p:spPr>
      </p:pic>
      <p:sp>
        <p:nvSpPr>
          <p:cNvPr id="40" name="Google Shape;40;p1"/>
          <p:cNvSpPr txBox="1"/>
          <p:nvPr/>
        </p:nvSpPr>
        <p:spPr>
          <a:xfrm>
            <a:off x="5845790" y="3861291"/>
            <a:ext cx="2465812"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Calibri"/>
                <a:ea typeface="Calibri"/>
                <a:cs typeface="Calibri"/>
                <a:sym typeface="Calibri"/>
              </a:rPr>
              <a:t>INTERNSHIP 2</a:t>
            </a:r>
            <a:endParaRPr dirty="0"/>
          </a:p>
          <a:p>
            <a:pPr marL="0" marR="0" lvl="0" indent="0" algn="l" rtl="0">
              <a:lnSpc>
                <a:spcPct val="100000"/>
              </a:lnSpc>
              <a:spcBef>
                <a:spcPts val="0"/>
              </a:spcBef>
              <a:spcAft>
                <a:spcPts val="0"/>
              </a:spcAft>
              <a:buNone/>
            </a:pPr>
            <a:endParaRPr sz="2200" b="1" i="1"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9"/>
          <p:cNvSpPr txBox="1"/>
          <p:nvPr/>
        </p:nvSpPr>
        <p:spPr>
          <a:xfrm>
            <a:off x="3563603" y="431572"/>
            <a:ext cx="47898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007367"/>
                </a:solidFill>
                <a:latin typeface="Inter"/>
                <a:ea typeface="Inter"/>
                <a:cs typeface="Inter"/>
                <a:sym typeface="Inter"/>
              </a:rPr>
              <a:t>Abstract</a:t>
            </a:r>
            <a:endParaRPr sz="1400" b="0" i="0" u="none" strike="noStrike" cap="none" dirty="0">
              <a:solidFill>
                <a:srgbClr val="000000"/>
              </a:solidFill>
              <a:latin typeface="Inter"/>
              <a:ea typeface="Inter"/>
              <a:cs typeface="Inter"/>
              <a:sym typeface="Inter"/>
            </a:endParaRPr>
          </a:p>
        </p:txBody>
      </p:sp>
      <p:sp>
        <p:nvSpPr>
          <p:cNvPr id="46" name="Google Shape;46;p19"/>
          <p:cNvSpPr txBox="1"/>
          <p:nvPr/>
        </p:nvSpPr>
        <p:spPr>
          <a:xfrm>
            <a:off x="434411" y="6230138"/>
            <a:ext cx="4789808"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7F7F7F"/>
                </a:solidFill>
                <a:latin typeface="Inter"/>
                <a:ea typeface="Inter"/>
                <a:cs typeface="Inter"/>
                <a:sym typeface="Inter"/>
              </a:rPr>
              <a:t>Dept of Computer Science &amp; Engineering</a:t>
            </a:r>
            <a:endParaRPr/>
          </a:p>
          <a:p>
            <a:pPr marL="0" marR="0" lvl="0" indent="0" algn="l" rtl="0">
              <a:lnSpc>
                <a:spcPct val="100000"/>
              </a:lnSpc>
              <a:spcBef>
                <a:spcPts val="0"/>
              </a:spcBef>
              <a:spcAft>
                <a:spcPts val="0"/>
              </a:spcAft>
              <a:buClr>
                <a:srgbClr val="7F7F7F"/>
              </a:buClr>
              <a:buSzPts val="1800"/>
              <a:buFont typeface="Open Sans"/>
              <a:buNone/>
            </a:pPr>
            <a:endParaRPr sz="1800" b="0" i="0" u="none" strike="noStrike" cap="none">
              <a:solidFill>
                <a:srgbClr val="7F7F7F"/>
              </a:solidFill>
              <a:latin typeface="Inter"/>
              <a:ea typeface="Inter"/>
              <a:cs typeface="Inter"/>
              <a:sym typeface="Inter"/>
            </a:endParaRPr>
          </a:p>
        </p:txBody>
      </p:sp>
      <p:pic>
        <p:nvPicPr>
          <p:cNvPr id="47" name="Google Shape;47;p19"/>
          <p:cNvPicPr preferRelativeResize="0"/>
          <p:nvPr/>
        </p:nvPicPr>
        <p:blipFill rotWithShape="1">
          <a:blip r:embed="rId3">
            <a:alphaModFix/>
          </a:blip>
          <a:srcRect/>
          <a:stretch/>
        </p:blipFill>
        <p:spPr>
          <a:xfrm>
            <a:off x="9657588" y="5780138"/>
            <a:ext cx="2100001" cy="900000"/>
          </a:xfrm>
          <a:prstGeom prst="rect">
            <a:avLst/>
          </a:prstGeom>
          <a:noFill/>
          <a:ln>
            <a:noFill/>
          </a:ln>
        </p:spPr>
      </p:pic>
      <p:sp>
        <p:nvSpPr>
          <p:cNvPr id="48" name="Google Shape;48;p19"/>
          <p:cNvSpPr txBox="1"/>
          <p:nvPr/>
        </p:nvSpPr>
        <p:spPr>
          <a:xfrm>
            <a:off x="966099" y="1435385"/>
            <a:ext cx="10259802" cy="4246431"/>
          </a:xfrm>
          <a:prstGeom prst="rect">
            <a:avLst/>
          </a:prstGeom>
          <a:noFill/>
          <a:ln>
            <a:noFill/>
          </a:ln>
        </p:spPr>
        <p:txBody>
          <a:bodyPr spcFirstLastPara="1" wrap="square" lIns="91425" tIns="45700" rIns="91425" bIns="45700" anchor="t" anchorCtr="0">
            <a:noAutofit/>
          </a:bodyPr>
          <a:lstStyle/>
          <a:p>
            <a:pPr lvl="0" algn="just">
              <a:lnSpc>
                <a:spcPct val="150000"/>
              </a:lnSpc>
            </a:pPr>
            <a:r>
              <a:rPr lang="en-US" sz="2000" dirty="0"/>
              <a:t>The ANPR system operates in real-time, enabling license plate recognition directly from live webcam streams, recorded video files, or still images. The pipeline includes several key components: vehicle detection, license plate localization, plate image enhancement, character segmentation, and finally, OCR-based text extraction. Deep learning models, such as Convolutional Neural Networks (CNNs), are used for object detection (vehicles and plates), ensuring high accuracy even in challenging conditions such as varying lighting, occlusion, and complex backgrounds.</a:t>
            </a:r>
            <a:endParaRPr lang="en-US" sz="20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20"/>
          <p:cNvSpPr txBox="1"/>
          <p:nvPr/>
        </p:nvSpPr>
        <p:spPr>
          <a:xfrm>
            <a:off x="3288299" y="285268"/>
            <a:ext cx="47898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007367"/>
                </a:solidFill>
                <a:latin typeface="Inter"/>
                <a:ea typeface="Inter"/>
                <a:cs typeface="Inter"/>
                <a:sym typeface="Inter"/>
              </a:rPr>
              <a:t>Certificate</a:t>
            </a:r>
            <a:endParaRPr sz="1400" b="0" i="0" u="none" strike="noStrike" cap="none" dirty="0">
              <a:solidFill>
                <a:srgbClr val="000000"/>
              </a:solidFill>
              <a:latin typeface="Inter"/>
              <a:ea typeface="Inter"/>
              <a:cs typeface="Inter"/>
              <a:sym typeface="Inter"/>
            </a:endParaRPr>
          </a:p>
        </p:txBody>
      </p:sp>
      <p:sp>
        <p:nvSpPr>
          <p:cNvPr id="57" name="Google Shape;57;p20"/>
          <p:cNvSpPr txBox="1"/>
          <p:nvPr/>
        </p:nvSpPr>
        <p:spPr>
          <a:xfrm>
            <a:off x="434411" y="6230138"/>
            <a:ext cx="4789808"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7F7F7F"/>
                </a:solidFill>
                <a:latin typeface="Inter"/>
                <a:ea typeface="Inter"/>
                <a:cs typeface="Inter"/>
                <a:sym typeface="Inter"/>
              </a:rPr>
              <a:t>Dept of Computer Science &amp; Engineering</a:t>
            </a:r>
            <a:endParaRPr/>
          </a:p>
          <a:p>
            <a:pPr marL="0" marR="0" lvl="0" indent="0" algn="l" rtl="0">
              <a:lnSpc>
                <a:spcPct val="100000"/>
              </a:lnSpc>
              <a:spcBef>
                <a:spcPts val="0"/>
              </a:spcBef>
              <a:spcAft>
                <a:spcPts val="0"/>
              </a:spcAft>
              <a:buClr>
                <a:srgbClr val="7F7F7F"/>
              </a:buClr>
              <a:buSzPts val="1800"/>
              <a:buFont typeface="Open Sans"/>
              <a:buNone/>
            </a:pPr>
            <a:endParaRPr sz="1800" b="0" i="0" u="none" strike="noStrike" cap="none">
              <a:solidFill>
                <a:srgbClr val="7F7F7F"/>
              </a:solidFill>
              <a:latin typeface="Inter"/>
              <a:ea typeface="Inter"/>
              <a:cs typeface="Inter"/>
              <a:sym typeface="Inter"/>
            </a:endParaRPr>
          </a:p>
        </p:txBody>
      </p:sp>
      <p:pic>
        <p:nvPicPr>
          <p:cNvPr id="58" name="Google Shape;58;p20"/>
          <p:cNvPicPr preferRelativeResize="0"/>
          <p:nvPr/>
        </p:nvPicPr>
        <p:blipFill rotWithShape="1">
          <a:blip r:embed="rId3">
            <a:alphaModFix/>
          </a:blip>
          <a:srcRect/>
          <a:stretch/>
        </p:blipFill>
        <p:spPr>
          <a:xfrm>
            <a:off x="9657588" y="5780138"/>
            <a:ext cx="2100001" cy="900000"/>
          </a:xfrm>
          <a:prstGeom prst="rect">
            <a:avLst/>
          </a:prstGeom>
          <a:noFill/>
          <a:ln>
            <a:noFill/>
          </a:ln>
        </p:spPr>
      </p:pic>
      <p:pic>
        <p:nvPicPr>
          <p:cNvPr id="3" name="Picture 2">
            <a:extLst>
              <a:ext uri="{FF2B5EF4-FFF2-40B4-BE49-F238E27FC236}">
                <a16:creationId xmlns:a16="http://schemas.microsoft.com/office/drawing/2014/main" id="{250BFA2B-8A11-5883-E5D9-4BC154642341}"/>
              </a:ext>
            </a:extLst>
          </p:cNvPr>
          <p:cNvPicPr>
            <a:picLocks noChangeAspect="1"/>
          </p:cNvPicPr>
          <p:nvPr/>
        </p:nvPicPr>
        <p:blipFill>
          <a:blip r:embed="rId4"/>
          <a:stretch>
            <a:fillRect/>
          </a:stretch>
        </p:blipFill>
        <p:spPr>
          <a:xfrm>
            <a:off x="3895345" y="931558"/>
            <a:ext cx="3904488" cy="50303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1"/>
          <p:cNvSpPr txBox="1"/>
          <p:nvPr/>
        </p:nvSpPr>
        <p:spPr>
          <a:xfrm>
            <a:off x="3581831" y="488048"/>
            <a:ext cx="47898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007367"/>
                </a:solidFill>
                <a:latin typeface="Inter"/>
                <a:ea typeface="Inter"/>
                <a:cs typeface="Inter"/>
                <a:sym typeface="Inter"/>
              </a:rPr>
              <a:t>Company Overview</a:t>
            </a:r>
            <a:endParaRPr sz="1400" b="0" i="0" u="none" strike="noStrike" cap="none" dirty="0">
              <a:solidFill>
                <a:srgbClr val="000000"/>
              </a:solidFill>
              <a:latin typeface="Inter"/>
              <a:ea typeface="Inter"/>
              <a:cs typeface="Inter"/>
              <a:sym typeface="Inter"/>
            </a:endParaRPr>
          </a:p>
        </p:txBody>
      </p:sp>
      <p:sp>
        <p:nvSpPr>
          <p:cNvPr id="68" name="Google Shape;68;p21"/>
          <p:cNvSpPr txBox="1"/>
          <p:nvPr/>
        </p:nvSpPr>
        <p:spPr>
          <a:xfrm>
            <a:off x="434411" y="6230138"/>
            <a:ext cx="4789808"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7F7F7F"/>
                </a:solidFill>
                <a:latin typeface="Inter"/>
                <a:ea typeface="Inter"/>
                <a:cs typeface="Inter"/>
                <a:sym typeface="Inter"/>
              </a:rPr>
              <a:t>Dept of Computer Science &amp; Engineering</a:t>
            </a:r>
            <a:endParaRPr/>
          </a:p>
          <a:p>
            <a:pPr marL="0" marR="0" lvl="0" indent="0" algn="l" rtl="0">
              <a:lnSpc>
                <a:spcPct val="100000"/>
              </a:lnSpc>
              <a:spcBef>
                <a:spcPts val="0"/>
              </a:spcBef>
              <a:spcAft>
                <a:spcPts val="0"/>
              </a:spcAft>
              <a:buClr>
                <a:srgbClr val="7F7F7F"/>
              </a:buClr>
              <a:buSzPts val="1800"/>
              <a:buFont typeface="Open Sans"/>
              <a:buNone/>
            </a:pPr>
            <a:endParaRPr sz="1800" b="0" i="0" u="none" strike="noStrike" cap="none">
              <a:solidFill>
                <a:srgbClr val="7F7F7F"/>
              </a:solidFill>
              <a:latin typeface="Inter"/>
              <a:ea typeface="Inter"/>
              <a:cs typeface="Inter"/>
              <a:sym typeface="Inter"/>
            </a:endParaRPr>
          </a:p>
        </p:txBody>
      </p:sp>
      <p:pic>
        <p:nvPicPr>
          <p:cNvPr id="69" name="Google Shape;69;p21"/>
          <p:cNvPicPr preferRelativeResize="0"/>
          <p:nvPr/>
        </p:nvPicPr>
        <p:blipFill rotWithShape="1">
          <a:blip r:embed="rId3">
            <a:alphaModFix/>
          </a:blip>
          <a:srcRect/>
          <a:stretch/>
        </p:blipFill>
        <p:spPr>
          <a:xfrm>
            <a:off x="9657588" y="5780138"/>
            <a:ext cx="2100001" cy="900000"/>
          </a:xfrm>
          <a:prstGeom prst="rect">
            <a:avLst/>
          </a:prstGeom>
          <a:noFill/>
          <a:ln>
            <a:noFill/>
          </a:ln>
        </p:spPr>
      </p:pic>
      <p:sp>
        <p:nvSpPr>
          <p:cNvPr id="70" name="Google Shape;70;p21"/>
          <p:cNvSpPr txBox="1"/>
          <p:nvPr/>
        </p:nvSpPr>
        <p:spPr>
          <a:xfrm>
            <a:off x="1211264" y="1220304"/>
            <a:ext cx="9769471" cy="4417392"/>
          </a:xfrm>
          <a:prstGeom prst="rect">
            <a:avLst/>
          </a:prstGeom>
          <a:noFill/>
          <a:ln>
            <a:noFill/>
          </a:ln>
        </p:spPr>
        <p:txBody>
          <a:bodyPr spcFirstLastPara="1" wrap="square" lIns="91425" tIns="45700" rIns="91425" bIns="45700" anchor="t" anchorCtr="0">
            <a:noAutofit/>
          </a:bodyPr>
          <a:lstStyle/>
          <a:p>
            <a:pPr marL="342900" lvl="1" indent="-342900">
              <a:lnSpc>
                <a:spcPct val="20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ParkNSecure</a:t>
            </a:r>
            <a:r>
              <a:rPr lang="en-US" sz="2000" dirty="0">
                <a:latin typeface="Times New Roman" panose="02020603050405020304" pitchFamily="18" charset="0"/>
                <a:cs typeface="Times New Roman" panose="02020603050405020304" pitchFamily="18" charset="0"/>
              </a:rPr>
              <a:t> is a smart tech company providing urban mobility solutions.</a:t>
            </a:r>
          </a:p>
          <a:p>
            <a:pPr marL="342900" lvl="1"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Specializes in smart parking through its flagship product: </a:t>
            </a:r>
            <a:r>
              <a:rPr lang="en-US" sz="2000" b="1" i="1" dirty="0" err="1">
                <a:latin typeface="Times New Roman" panose="02020603050405020304" pitchFamily="18" charset="0"/>
                <a:cs typeface="Times New Roman" panose="02020603050405020304" pitchFamily="18" charset="0"/>
              </a:rPr>
              <a:t>SecurePark</a:t>
            </a:r>
            <a:r>
              <a:rPr lang="en-US" sz="2000" b="1" dirty="0">
                <a:latin typeface="Times New Roman" panose="02020603050405020304" pitchFamily="18" charset="0"/>
                <a:cs typeface="Times New Roman" panose="02020603050405020304" pitchFamily="18" charset="0"/>
              </a:rPr>
              <a:t>.</a:t>
            </a:r>
          </a:p>
          <a:p>
            <a:pPr marL="342900" lvl="1" indent="-34290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Offers hardware-software integrated solutions for real-time parking.</a:t>
            </a:r>
          </a:p>
          <a:p>
            <a:pPr marL="342900" lvl="1" indent="-34290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Focus on sustainability, automation, and urban mobility innovation.</a:t>
            </a:r>
          </a:p>
          <a:p>
            <a:pPr marL="342900" lvl="1"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Solutions are deployed across public and private parking infrastructures.</a:t>
            </a:r>
          </a:p>
          <a:p>
            <a:pPr marL="342900" lvl="1"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Aims to reduce traffic congestion and enhance smart city development.</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22"/>
          <p:cNvSpPr txBox="1"/>
          <p:nvPr/>
        </p:nvSpPr>
        <p:spPr>
          <a:xfrm>
            <a:off x="3578265" y="375056"/>
            <a:ext cx="47898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007367"/>
                </a:solidFill>
                <a:latin typeface="Inter"/>
                <a:ea typeface="Inter"/>
                <a:cs typeface="Inter"/>
                <a:sym typeface="Inter"/>
              </a:rPr>
              <a:t>Project Overview</a:t>
            </a:r>
            <a:endParaRPr sz="1400" b="0" i="0" u="none" strike="noStrike" cap="none" dirty="0">
              <a:solidFill>
                <a:srgbClr val="000000"/>
              </a:solidFill>
              <a:latin typeface="Inter"/>
              <a:ea typeface="Inter"/>
              <a:cs typeface="Inter"/>
              <a:sym typeface="Inter"/>
            </a:endParaRPr>
          </a:p>
        </p:txBody>
      </p:sp>
      <p:sp>
        <p:nvSpPr>
          <p:cNvPr id="79" name="Google Shape;79;p22"/>
          <p:cNvSpPr txBox="1"/>
          <p:nvPr/>
        </p:nvSpPr>
        <p:spPr>
          <a:xfrm>
            <a:off x="434411" y="6230138"/>
            <a:ext cx="4789808"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7F7F7F"/>
                </a:solidFill>
                <a:latin typeface="Inter"/>
                <a:ea typeface="Inter"/>
                <a:cs typeface="Inter"/>
                <a:sym typeface="Inter"/>
              </a:rPr>
              <a:t>Dept of Computer Science &amp; Engineering</a:t>
            </a:r>
            <a:endParaRPr/>
          </a:p>
          <a:p>
            <a:pPr marL="0" marR="0" lvl="0" indent="0" algn="l" rtl="0">
              <a:lnSpc>
                <a:spcPct val="100000"/>
              </a:lnSpc>
              <a:spcBef>
                <a:spcPts val="0"/>
              </a:spcBef>
              <a:spcAft>
                <a:spcPts val="0"/>
              </a:spcAft>
              <a:buClr>
                <a:srgbClr val="7F7F7F"/>
              </a:buClr>
              <a:buSzPts val="1800"/>
              <a:buFont typeface="Open Sans"/>
              <a:buNone/>
            </a:pPr>
            <a:endParaRPr sz="1800" b="0" i="0" u="none" strike="noStrike" cap="none">
              <a:solidFill>
                <a:srgbClr val="7F7F7F"/>
              </a:solidFill>
              <a:latin typeface="Inter"/>
              <a:ea typeface="Inter"/>
              <a:cs typeface="Inter"/>
              <a:sym typeface="Inter"/>
            </a:endParaRPr>
          </a:p>
        </p:txBody>
      </p:sp>
      <p:pic>
        <p:nvPicPr>
          <p:cNvPr id="80" name="Google Shape;80;p22"/>
          <p:cNvPicPr preferRelativeResize="0"/>
          <p:nvPr/>
        </p:nvPicPr>
        <p:blipFill rotWithShape="1">
          <a:blip r:embed="rId3">
            <a:alphaModFix/>
          </a:blip>
          <a:srcRect/>
          <a:stretch/>
        </p:blipFill>
        <p:spPr>
          <a:xfrm>
            <a:off x="9657588" y="5780138"/>
            <a:ext cx="2100001" cy="900000"/>
          </a:xfrm>
          <a:prstGeom prst="rect">
            <a:avLst/>
          </a:prstGeom>
          <a:noFill/>
          <a:ln>
            <a:noFill/>
          </a:ln>
        </p:spPr>
      </p:pic>
      <p:sp>
        <p:nvSpPr>
          <p:cNvPr id="81" name="Google Shape;81;p22"/>
          <p:cNvSpPr txBox="1"/>
          <p:nvPr/>
        </p:nvSpPr>
        <p:spPr>
          <a:xfrm>
            <a:off x="933011" y="1417046"/>
            <a:ext cx="10571922" cy="4417392"/>
          </a:xfrm>
          <a:prstGeom prst="rect">
            <a:avLst/>
          </a:prstGeom>
          <a:noFill/>
          <a:ln>
            <a:noFill/>
          </a:ln>
        </p:spPr>
        <p:txBody>
          <a:bodyPr spcFirstLastPara="1" wrap="square" lIns="91425" tIns="45700" rIns="91425" bIns="45700" anchor="t" anchorCtr="0">
            <a:noAutofit/>
          </a:bodyPr>
          <a:lstStyle/>
          <a:p>
            <a:pPr marL="342900" lvl="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Project Title:</a:t>
            </a:r>
            <a:r>
              <a:rPr lang="en-US" sz="2000" dirty="0">
                <a:latin typeface="Times New Roman" panose="02020603050405020304" pitchFamily="18" charset="0"/>
                <a:cs typeface="Times New Roman" panose="02020603050405020304" pitchFamily="18" charset="0"/>
              </a:rPr>
              <a:t> ANPR Model For Smart Parking System</a:t>
            </a:r>
          </a:p>
          <a:p>
            <a:pPr marL="342900" lvl="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Problem Domain:</a:t>
            </a:r>
            <a:r>
              <a:rPr lang="en-US" sz="2000" dirty="0">
                <a:latin typeface="Times New Roman" panose="02020603050405020304" pitchFamily="18" charset="0"/>
                <a:cs typeface="Times New Roman" panose="02020603050405020304" pitchFamily="18" charset="0"/>
              </a:rPr>
              <a:t> Urban traffic congestion &amp; inefficient manual parking</a:t>
            </a:r>
          </a:p>
          <a:p>
            <a:pPr marL="342900" lvl="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Project Goal:</a:t>
            </a:r>
            <a:r>
              <a:rPr lang="en-US" sz="2000" dirty="0">
                <a:latin typeface="Times New Roman" panose="02020603050405020304" pitchFamily="18" charset="0"/>
                <a:cs typeface="Times New Roman" panose="02020603050405020304" pitchFamily="18" charset="0"/>
              </a:rPr>
              <a:t> Build a responsive and Automated license plate Detector</a:t>
            </a:r>
          </a:p>
          <a:p>
            <a:pPr marL="342900" lvl="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Key Features:</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license plate detection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Number extraction and analyzation.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Barricade opening if the number plate is registered.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3"/>
          <p:cNvSpPr txBox="1"/>
          <p:nvPr/>
        </p:nvSpPr>
        <p:spPr>
          <a:xfrm>
            <a:off x="2769088" y="616504"/>
            <a:ext cx="6653824"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007367"/>
                </a:solidFill>
                <a:latin typeface="Inter"/>
                <a:ea typeface="Inter"/>
                <a:cs typeface="Inter"/>
                <a:sym typeface="Inter"/>
              </a:rPr>
              <a:t>Internship Work Description</a:t>
            </a:r>
            <a:endParaRPr sz="1400" b="0" i="0" u="none" strike="noStrike" cap="none" dirty="0">
              <a:solidFill>
                <a:srgbClr val="000000"/>
              </a:solidFill>
              <a:latin typeface="Inter"/>
              <a:ea typeface="Inter"/>
              <a:cs typeface="Inter"/>
              <a:sym typeface="Inter"/>
            </a:endParaRPr>
          </a:p>
        </p:txBody>
      </p:sp>
      <p:sp>
        <p:nvSpPr>
          <p:cNvPr id="90" name="Google Shape;90;p23"/>
          <p:cNvSpPr txBox="1"/>
          <p:nvPr/>
        </p:nvSpPr>
        <p:spPr>
          <a:xfrm>
            <a:off x="434411" y="6230138"/>
            <a:ext cx="4789808"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7F7F7F"/>
                </a:solidFill>
                <a:latin typeface="Inter"/>
                <a:ea typeface="Inter"/>
                <a:cs typeface="Inter"/>
                <a:sym typeface="Inter"/>
              </a:rPr>
              <a:t>Dept of Computer Science &amp; Engineering</a:t>
            </a:r>
            <a:endParaRPr/>
          </a:p>
          <a:p>
            <a:pPr marL="0" marR="0" lvl="0" indent="0" algn="l" rtl="0">
              <a:lnSpc>
                <a:spcPct val="100000"/>
              </a:lnSpc>
              <a:spcBef>
                <a:spcPts val="0"/>
              </a:spcBef>
              <a:spcAft>
                <a:spcPts val="0"/>
              </a:spcAft>
              <a:buClr>
                <a:srgbClr val="7F7F7F"/>
              </a:buClr>
              <a:buSzPts val="1800"/>
              <a:buFont typeface="Open Sans"/>
              <a:buNone/>
            </a:pPr>
            <a:endParaRPr sz="1800" b="0" i="0" u="none" strike="noStrike" cap="none">
              <a:solidFill>
                <a:srgbClr val="7F7F7F"/>
              </a:solidFill>
              <a:latin typeface="Inter"/>
              <a:ea typeface="Inter"/>
              <a:cs typeface="Inter"/>
              <a:sym typeface="Inter"/>
            </a:endParaRPr>
          </a:p>
        </p:txBody>
      </p:sp>
      <p:pic>
        <p:nvPicPr>
          <p:cNvPr id="91" name="Google Shape;91;p23"/>
          <p:cNvPicPr preferRelativeResize="0"/>
          <p:nvPr/>
        </p:nvPicPr>
        <p:blipFill rotWithShape="1">
          <a:blip r:embed="rId3">
            <a:alphaModFix/>
          </a:blip>
          <a:srcRect/>
          <a:stretch/>
        </p:blipFill>
        <p:spPr>
          <a:xfrm>
            <a:off x="9657588" y="5780138"/>
            <a:ext cx="2100001" cy="900000"/>
          </a:xfrm>
          <a:prstGeom prst="rect">
            <a:avLst/>
          </a:prstGeom>
          <a:noFill/>
          <a:ln>
            <a:noFill/>
          </a:ln>
        </p:spPr>
      </p:pic>
      <p:sp>
        <p:nvSpPr>
          <p:cNvPr id="92" name="Google Shape;92;p23"/>
          <p:cNvSpPr txBox="1"/>
          <p:nvPr/>
        </p:nvSpPr>
        <p:spPr>
          <a:xfrm>
            <a:off x="1417101" y="1537770"/>
            <a:ext cx="9357798" cy="4417392"/>
          </a:xfrm>
          <a:prstGeom prst="rect">
            <a:avLst/>
          </a:prstGeom>
          <a:noFill/>
          <a:ln>
            <a:noFill/>
          </a:ln>
        </p:spPr>
        <p:txBody>
          <a:bodyPr spcFirstLastPara="1" wrap="square" lIns="91425" tIns="45700" rIns="91425" bIns="45700" anchor="t" anchorCtr="0">
            <a:noAutofit/>
          </a:bodyPr>
          <a:lstStyle/>
          <a:p>
            <a:pPr marL="342900" lvl="0" indent="-342900">
              <a:lnSpc>
                <a:spcPct val="200000"/>
              </a:lnSpc>
              <a:buFont typeface="Arial" panose="020B0604020202020204" pitchFamily="34" charset="0"/>
              <a:buChar char="•"/>
            </a:pPr>
            <a:r>
              <a:rPr lang="en-US" sz="2000" dirty="0"/>
              <a:t>Dataset Preparation and Annotation for YOLOv8 </a:t>
            </a:r>
          </a:p>
          <a:p>
            <a:pPr marL="342900" lvl="0" indent="-342900">
              <a:lnSpc>
                <a:spcPct val="200000"/>
              </a:lnSpc>
              <a:buFont typeface="Arial" panose="020B0604020202020204" pitchFamily="34" charset="0"/>
              <a:buChar char="•"/>
            </a:pPr>
            <a:r>
              <a:rPr lang="en-US" sz="2000" dirty="0"/>
              <a:t>Training the YOLOv8 Model for License Plate Detection </a:t>
            </a:r>
            <a:r>
              <a:rPr lang="en-US" sz="2000" dirty="0">
                <a:latin typeface="Times New Roman" panose="02020603050405020304" pitchFamily="18" charset="0"/>
                <a:cs typeface="Times New Roman" panose="02020603050405020304" pitchFamily="18" charset="0"/>
              </a:rPr>
              <a:t>.</a:t>
            </a:r>
          </a:p>
          <a:p>
            <a:pPr marL="342900" lvl="0" indent="-342900">
              <a:lnSpc>
                <a:spcPct val="200000"/>
              </a:lnSpc>
              <a:buFont typeface="Arial" panose="020B0604020202020204" pitchFamily="34" charset="0"/>
              <a:buChar char="•"/>
            </a:pPr>
            <a:r>
              <a:rPr lang="en-US" sz="2000" dirty="0"/>
              <a:t>Developing Detection Scripts for Real-Time and Batch Processing </a:t>
            </a:r>
          </a:p>
          <a:p>
            <a:pPr marL="342900" lvl="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Focused on Indian License Plates</a:t>
            </a:r>
          </a:p>
          <a:p>
            <a:pPr marL="342900" lvl="0" indent="-342900">
              <a:lnSpc>
                <a:spcPct val="200000"/>
              </a:lnSpc>
              <a:buFont typeface="Arial" panose="020B0604020202020204" pitchFamily="34" charset="0"/>
              <a:buChar char="•"/>
            </a:pPr>
            <a:r>
              <a:rPr lang="en-US" sz="2000" dirty="0"/>
              <a:t>Prebooked Plate Verification for Access Control </a:t>
            </a:r>
          </a:p>
          <a:p>
            <a:pPr marL="342900" lvl="0" indent="-342900">
              <a:lnSpc>
                <a:spcPct val="200000"/>
              </a:lnSpc>
              <a:buFont typeface="Arial" panose="020B0604020202020204" pitchFamily="34" charset="0"/>
              <a:buChar char="•"/>
            </a:pPr>
            <a:r>
              <a:rPr lang="en-US" sz="2000" dirty="0"/>
              <a:t>System Testing and Real-Time Optimization </a:t>
            </a:r>
            <a:endParaRPr sz="20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4"/>
          <p:cNvSpPr txBox="1"/>
          <p:nvPr/>
        </p:nvSpPr>
        <p:spPr>
          <a:xfrm>
            <a:off x="2985398" y="629895"/>
            <a:ext cx="6221204"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007367"/>
                </a:solidFill>
                <a:latin typeface="Inter"/>
                <a:ea typeface="Inter"/>
                <a:cs typeface="Inter"/>
                <a:sym typeface="Inter"/>
              </a:rPr>
              <a:t>Results and Observations</a:t>
            </a:r>
            <a:endParaRPr sz="1400" b="0" i="0" u="none" strike="noStrike" cap="none" dirty="0">
              <a:solidFill>
                <a:srgbClr val="000000"/>
              </a:solidFill>
              <a:latin typeface="Inter"/>
              <a:ea typeface="Inter"/>
              <a:cs typeface="Inter"/>
              <a:sym typeface="Inter"/>
            </a:endParaRPr>
          </a:p>
        </p:txBody>
      </p:sp>
      <p:sp>
        <p:nvSpPr>
          <p:cNvPr id="101" name="Google Shape;101;p24"/>
          <p:cNvSpPr txBox="1"/>
          <p:nvPr/>
        </p:nvSpPr>
        <p:spPr>
          <a:xfrm>
            <a:off x="126298" y="6356992"/>
            <a:ext cx="4789808"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7F7F7F"/>
                </a:solidFill>
                <a:latin typeface="Inter"/>
                <a:ea typeface="Inter"/>
                <a:cs typeface="Inter"/>
                <a:sym typeface="Inter"/>
              </a:rPr>
              <a:t>Dept of Computer Science &amp; Engineering</a:t>
            </a:r>
            <a:endParaRPr/>
          </a:p>
          <a:p>
            <a:pPr marL="0" marR="0" lvl="0" indent="0" algn="l" rtl="0">
              <a:lnSpc>
                <a:spcPct val="100000"/>
              </a:lnSpc>
              <a:spcBef>
                <a:spcPts val="0"/>
              </a:spcBef>
              <a:spcAft>
                <a:spcPts val="0"/>
              </a:spcAft>
              <a:buClr>
                <a:srgbClr val="7F7F7F"/>
              </a:buClr>
              <a:buSzPts val="1800"/>
              <a:buFont typeface="Open Sans"/>
              <a:buNone/>
            </a:pPr>
            <a:endParaRPr sz="1800" b="0" i="0" u="none" strike="noStrike" cap="none">
              <a:solidFill>
                <a:srgbClr val="7F7F7F"/>
              </a:solidFill>
              <a:latin typeface="Inter"/>
              <a:ea typeface="Inter"/>
              <a:cs typeface="Inter"/>
              <a:sym typeface="Inter"/>
            </a:endParaRPr>
          </a:p>
        </p:txBody>
      </p:sp>
      <p:pic>
        <p:nvPicPr>
          <p:cNvPr id="102" name="Google Shape;102;p24"/>
          <p:cNvPicPr preferRelativeResize="0"/>
          <p:nvPr/>
        </p:nvPicPr>
        <p:blipFill rotWithShape="1">
          <a:blip r:embed="rId3">
            <a:alphaModFix/>
          </a:blip>
          <a:srcRect/>
          <a:stretch/>
        </p:blipFill>
        <p:spPr>
          <a:xfrm>
            <a:off x="9657588" y="5780138"/>
            <a:ext cx="2100001" cy="900000"/>
          </a:xfrm>
          <a:prstGeom prst="rect">
            <a:avLst/>
          </a:prstGeom>
          <a:noFill/>
          <a:ln>
            <a:noFill/>
          </a:ln>
        </p:spPr>
      </p:pic>
      <p:sp>
        <p:nvSpPr>
          <p:cNvPr id="103" name="Google Shape;103;p24"/>
          <p:cNvSpPr txBox="1"/>
          <p:nvPr/>
        </p:nvSpPr>
        <p:spPr>
          <a:xfrm>
            <a:off x="1411809" y="1646652"/>
            <a:ext cx="8833404" cy="4133486"/>
          </a:xfrm>
          <a:prstGeom prst="rect">
            <a:avLst/>
          </a:prstGeom>
          <a:noFill/>
          <a:ln>
            <a:noFill/>
          </a:ln>
        </p:spPr>
        <p:txBody>
          <a:bodyPr spcFirstLastPara="1" wrap="square" lIns="91425" tIns="45700" rIns="91425" bIns="45700" anchor="t" anchorCtr="0">
            <a:noAutofit/>
          </a:bodyPr>
          <a:lstStyle/>
          <a:p>
            <a:pPr marL="342900" lvl="0" indent="-342900">
              <a:lnSpc>
                <a:spcPct val="200000"/>
              </a:lnSpc>
              <a:buFont typeface="Arial" panose="020B0604020202020204" pitchFamily="34" charset="0"/>
              <a:buChar char="•"/>
            </a:pPr>
            <a:r>
              <a:rPr lang="en-US" sz="2000" dirty="0"/>
              <a:t>Developed and trained a custom YOLOv8 model </a:t>
            </a:r>
          </a:p>
          <a:p>
            <a:pPr marL="342900" lvl="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Integrated real-time License plate Detection</a:t>
            </a:r>
          </a:p>
          <a:p>
            <a:pPr marL="342900" lvl="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Improved license plate number extraction</a:t>
            </a:r>
          </a:p>
          <a:p>
            <a:pPr marL="342900" lvl="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Maintained detailed reports and documentation.</a:t>
            </a:r>
          </a:p>
          <a:p>
            <a:pPr marL="342900" lvl="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Enhanced user experience through consistent Monitoring and Security </a:t>
            </a:r>
            <a:endParaRPr sz="20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052DFDD-D587-491C-1316-EAE959EA0FA4}"/>
              </a:ext>
            </a:extLst>
          </p:cNvPr>
          <p:cNvPicPr>
            <a:picLocks noChangeAspect="1"/>
          </p:cNvPicPr>
          <p:nvPr/>
        </p:nvPicPr>
        <p:blipFill>
          <a:blip r:embed="rId2"/>
          <a:stretch>
            <a:fillRect/>
          </a:stretch>
        </p:blipFill>
        <p:spPr>
          <a:xfrm>
            <a:off x="2505457" y="101537"/>
            <a:ext cx="6819038" cy="5137975"/>
          </a:xfrm>
          <a:prstGeom prst="rect">
            <a:avLst/>
          </a:prstGeom>
        </p:spPr>
      </p:pic>
      <p:sp>
        <p:nvSpPr>
          <p:cNvPr id="2" name="TextBox 1">
            <a:extLst>
              <a:ext uri="{FF2B5EF4-FFF2-40B4-BE49-F238E27FC236}">
                <a16:creationId xmlns:a16="http://schemas.microsoft.com/office/drawing/2014/main" id="{ADB13402-D913-454B-387D-A84BC76A3638}"/>
              </a:ext>
            </a:extLst>
          </p:cNvPr>
          <p:cNvSpPr txBox="1"/>
          <p:nvPr/>
        </p:nvSpPr>
        <p:spPr>
          <a:xfrm>
            <a:off x="2130553" y="5532121"/>
            <a:ext cx="8613648" cy="830997"/>
          </a:xfrm>
          <a:prstGeom prst="rect">
            <a:avLst/>
          </a:prstGeom>
          <a:noFill/>
        </p:spPr>
        <p:txBody>
          <a:bodyPr wrap="square" rtlCol="0">
            <a:spAutoFit/>
          </a:bodyPr>
          <a:lstStyle/>
          <a:p>
            <a:r>
              <a:rPr lang="en-US" sz="1600" b="1" dirty="0"/>
              <a:t>Description:-The above figure represented that the trained ANPR Model is Detecting the license plate and capturing the numbers in the number plate and sending signals to barriers to open gate or not.</a:t>
            </a:r>
            <a:endParaRPr lang="en-IN" sz="1600" b="1" dirty="0"/>
          </a:p>
        </p:txBody>
      </p:sp>
    </p:spTree>
    <p:extLst>
      <p:ext uri="{BB962C8B-B14F-4D97-AF65-F5344CB8AC3E}">
        <p14:creationId xmlns:p14="http://schemas.microsoft.com/office/powerpoint/2010/main" val="1286768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2" name="Google Shape;112;p5"/>
          <p:cNvSpPr/>
          <p:nvPr/>
        </p:nvSpPr>
        <p:spPr>
          <a:xfrm>
            <a:off x="10692817"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3" name="Google Shape;113;p5"/>
          <p:cNvSpPr/>
          <p:nvPr/>
        </p:nvSpPr>
        <p:spPr>
          <a:xfrm>
            <a:off x="10755442" y="423468"/>
            <a:ext cx="159232" cy="157970"/>
          </a:xfrm>
          <a:custGeom>
            <a:avLst/>
            <a:gdLst/>
            <a:ahLst/>
            <a:cxnLst/>
            <a:rect l="l" t="t" r="r" b="b"/>
            <a:pathLst>
              <a:path w="444" h="443" extrusionOk="0">
                <a:moveTo>
                  <a:pt x="257" y="257"/>
                </a:moveTo>
                <a:lnTo>
                  <a:pt x="257" y="257"/>
                </a:lnTo>
                <a:cubicBezTo>
                  <a:pt x="222" y="292"/>
                  <a:pt x="177" y="327"/>
                  <a:pt x="160" y="310"/>
                </a:cubicBezTo>
                <a:cubicBezTo>
                  <a:pt x="133" y="283"/>
                  <a:pt x="115" y="265"/>
                  <a:pt x="62" y="310"/>
                </a:cubicBezTo>
                <a:cubicBezTo>
                  <a:pt x="0" y="354"/>
                  <a:pt x="44" y="389"/>
                  <a:pt x="71" y="407"/>
                </a:cubicBezTo>
                <a:cubicBezTo>
                  <a:pt x="97" y="442"/>
                  <a:pt x="204" y="416"/>
                  <a:pt x="310" y="310"/>
                </a:cubicBezTo>
                <a:cubicBezTo>
                  <a:pt x="416" y="204"/>
                  <a:pt x="443" y="97"/>
                  <a:pt x="416" y="61"/>
                </a:cubicBezTo>
                <a:cubicBezTo>
                  <a:pt x="390" y="35"/>
                  <a:pt x="363" y="0"/>
                  <a:pt x="319" y="53"/>
                </a:cubicBezTo>
                <a:cubicBezTo>
                  <a:pt x="275" y="106"/>
                  <a:pt x="293" y="123"/>
                  <a:pt x="319" y="151"/>
                </a:cubicBezTo>
                <a:cubicBezTo>
                  <a:pt x="337" y="167"/>
                  <a:pt x="302" y="212"/>
                  <a:pt x="257" y="257"/>
                </a:cubicBezTo>
              </a:path>
            </a:pathLst>
          </a:custGeom>
          <a:solidFill>
            <a:srgbClr val="017069"/>
          </a:solidFill>
          <a:ln>
            <a:noFill/>
          </a:ln>
        </p:spPr>
        <p:txBody>
          <a:bodyPr spcFirstLastPara="1" wrap="square" lIns="34275" tIns="17125" rIns="34275" bIns="171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4" name="Google Shape;114;p5"/>
          <p:cNvSpPr/>
          <p:nvPr/>
        </p:nvSpPr>
        <p:spPr>
          <a:xfrm>
            <a:off x="11108103"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5" name="Google Shape;115;p5"/>
          <p:cNvSpPr/>
          <p:nvPr/>
        </p:nvSpPr>
        <p:spPr>
          <a:xfrm>
            <a:off x="11173901" y="455187"/>
            <a:ext cx="152886" cy="94532"/>
          </a:xfrm>
          <a:custGeom>
            <a:avLst/>
            <a:gdLst/>
            <a:ahLst/>
            <a:cxnLst/>
            <a:rect l="l" t="t" r="r" b="b"/>
            <a:pathLst>
              <a:path w="461" h="285" extrusionOk="0">
                <a:moveTo>
                  <a:pt x="18" y="27"/>
                </a:moveTo>
                <a:lnTo>
                  <a:pt x="18" y="27"/>
                </a:lnTo>
                <a:cubicBezTo>
                  <a:pt x="35" y="35"/>
                  <a:pt x="203" y="125"/>
                  <a:pt x="203" y="125"/>
                </a:cubicBezTo>
                <a:cubicBezTo>
                  <a:pt x="212" y="133"/>
                  <a:pt x="221" y="133"/>
                  <a:pt x="231" y="133"/>
                </a:cubicBezTo>
                <a:cubicBezTo>
                  <a:pt x="239" y="133"/>
                  <a:pt x="248" y="133"/>
                  <a:pt x="248" y="125"/>
                </a:cubicBezTo>
                <a:cubicBezTo>
                  <a:pt x="256" y="125"/>
                  <a:pt x="425" y="35"/>
                  <a:pt x="434" y="27"/>
                </a:cubicBezTo>
                <a:cubicBezTo>
                  <a:pt x="452" y="18"/>
                  <a:pt x="460" y="0"/>
                  <a:pt x="443" y="0"/>
                </a:cubicBezTo>
                <a:cubicBezTo>
                  <a:pt x="18" y="0"/>
                  <a:pt x="18" y="0"/>
                  <a:pt x="18" y="0"/>
                </a:cubicBezTo>
                <a:cubicBezTo>
                  <a:pt x="0" y="0"/>
                  <a:pt x="9" y="18"/>
                  <a:pt x="18" y="27"/>
                </a:cubicBezTo>
                <a:close/>
                <a:moveTo>
                  <a:pt x="443" y="80"/>
                </a:moveTo>
                <a:lnTo>
                  <a:pt x="443" y="80"/>
                </a:lnTo>
                <a:cubicBezTo>
                  <a:pt x="434" y="80"/>
                  <a:pt x="256" y="169"/>
                  <a:pt x="248" y="178"/>
                </a:cubicBezTo>
                <a:cubicBezTo>
                  <a:pt x="248" y="178"/>
                  <a:pt x="239" y="178"/>
                  <a:pt x="231" y="178"/>
                </a:cubicBezTo>
                <a:cubicBezTo>
                  <a:pt x="221" y="178"/>
                  <a:pt x="212" y="178"/>
                  <a:pt x="203" y="178"/>
                </a:cubicBezTo>
                <a:cubicBezTo>
                  <a:pt x="194" y="169"/>
                  <a:pt x="27" y="80"/>
                  <a:pt x="18" y="80"/>
                </a:cubicBezTo>
                <a:cubicBezTo>
                  <a:pt x="9" y="72"/>
                  <a:pt x="9" y="80"/>
                  <a:pt x="9" y="80"/>
                </a:cubicBezTo>
                <a:cubicBezTo>
                  <a:pt x="9" y="88"/>
                  <a:pt x="9" y="266"/>
                  <a:pt x="9" y="266"/>
                </a:cubicBezTo>
                <a:cubicBezTo>
                  <a:pt x="9" y="275"/>
                  <a:pt x="18" y="284"/>
                  <a:pt x="35" y="284"/>
                </a:cubicBezTo>
                <a:cubicBezTo>
                  <a:pt x="425" y="284"/>
                  <a:pt x="425" y="284"/>
                  <a:pt x="425" y="284"/>
                </a:cubicBezTo>
                <a:cubicBezTo>
                  <a:pt x="443" y="284"/>
                  <a:pt x="452" y="275"/>
                  <a:pt x="452" y="266"/>
                </a:cubicBezTo>
                <a:cubicBezTo>
                  <a:pt x="452" y="266"/>
                  <a:pt x="452" y="88"/>
                  <a:pt x="452" y="80"/>
                </a:cubicBezTo>
                <a:cubicBezTo>
                  <a:pt x="452" y="80"/>
                  <a:pt x="452" y="72"/>
                  <a:pt x="443" y="80"/>
                </a:cubicBezTo>
                <a:close/>
              </a:path>
            </a:pathLst>
          </a:custGeom>
          <a:solidFill>
            <a:srgbClr val="017069"/>
          </a:solidFill>
          <a:ln>
            <a:noFill/>
          </a:ln>
        </p:spPr>
        <p:txBody>
          <a:bodyPr spcFirstLastPara="1" wrap="square" lIns="34275" tIns="17125" rIns="34275" bIns="171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6" name="Google Shape;116;p5"/>
          <p:cNvSpPr/>
          <p:nvPr/>
        </p:nvSpPr>
        <p:spPr>
          <a:xfrm>
            <a:off x="11523389"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7" name="Google Shape;117;p5"/>
          <p:cNvSpPr/>
          <p:nvPr/>
        </p:nvSpPr>
        <p:spPr>
          <a:xfrm>
            <a:off x="11624228" y="414630"/>
            <a:ext cx="82804" cy="175646"/>
          </a:xfrm>
          <a:custGeom>
            <a:avLst/>
            <a:gdLst/>
            <a:ahLst/>
            <a:cxnLst/>
            <a:rect l="l" t="t" r="r" b="b"/>
            <a:pathLst>
              <a:path w="232" h="498" extrusionOk="0">
                <a:moveTo>
                  <a:pt x="178" y="0"/>
                </a:moveTo>
                <a:lnTo>
                  <a:pt x="178" y="0"/>
                </a:lnTo>
                <a:cubicBezTo>
                  <a:pt x="213" y="0"/>
                  <a:pt x="222" y="27"/>
                  <a:pt x="222" y="53"/>
                </a:cubicBezTo>
                <a:cubicBezTo>
                  <a:pt x="222" y="80"/>
                  <a:pt x="196" y="115"/>
                  <a:pt x="160" y="115"/>
                </a:cubicBezTo>
                <a:cubicBezTo>
                  <a:pt x="125" y="115"/>
                  <a:pt x="107" y="97"/>
                  <a:pt x="107" y="62"/>
                </a:cubicBezTo>
                <a:cubicBezTo>
                  <a:pt x="107" y="35"/>
                  <a:pt x="134" y="0"/>
                  <a:pt x="178" y="0"/>
                </a:cubicBezTo>
                <a:close/>
                <a:moveTo>
                  <a:pt x="72" y="497"/>
                </a:moveTo>
                <a:lnTo>
                  <a:pt x="72" y="497"/>
                </a:lnTo>
                <a:cubicBezTo>
                  <a:pt x="45" y="497"/>
                  <a:pt x="28" y="478"/>
                  <a:pt x="45" y="407"/>
                </a:cubicBezTo>
                <a:cubicBezTo>
                  <a:pt x="81" y="284"/>
                  <a:pt x="81" y="284"/>
                  <a:pt x="81" y="284"/>
                </a:cubicBezTo>
                <a:cubicBezTo>
                  <a:pt x="81" y="266"/>
                  <a:pt x="81" y="257"/>
                  <a:pt x="81" y="257"/>
                </a:cubicBezTo>
                <a:cubicBezTo>
                  <a:pt x="72" y="257"/>
                  <a:pt x="37" y="275"/>
                  <a:pt x="19" y="284"/>
                </a:cubicBezTo>
                <a:cubicBezTo>
                  <a:pt x="0" y="266"/>
                  <a:pt x="0" y="266"/>
                  <a:pt x="0" y="266"/>
                </a:cubicBezTo>
                <a:cubicBezTo>
                  <a:pt x="63" y="213"/>
                  <a:pt x="143" y="178"/>
                  <a:pt x="169" y="178"/>
                </a:cubicBezTo>
                <a:cubicBezTo>
                  <a:pt x="196" y="178"/>
                  <a:pt x="205" y="213"/>
                  <a:pt x="187" y="257"/>
                </a:cubicBezTo>
                <a:cubicBezTo>
                  <a:pt x="151" y="390"/>
                  <a:pt x="151" y="390"/>
                  <a:pt x="151" y="390"/>
                </a:cubicBezTo>
                <a:cubicBezTo>
                  <a:pt x="151" y="416"/>
                  <a:pt x="151" y="425"/>
                  <a:pt x="160" y="425"/>
                </a:cubicBezTo>
                <a:cubicBezTo>
                  <a:pt x="160" y="425"/>
                  <a:pt x="187" y="407"/>
                  <a:pt x="213" y="390"/>
                </a:cubicBezTo>
                <a:cubicBezTo>
                  <a:pt x="231" y="407"/>
                  <a:pt x="231" y="407"/>
                  <a:pt x="231" y="407"/>
                </a:cubicBezTo>
                <a:cubicBezTo>
                  <a:pt x="169" y="478"/>
                  <a:pt x="98" y="497"/>
                  <a:pt x="72" y="497"/>
                </a:cubicBezTo>
                <a:close/>
              </a:path>
            </a:pathLst>
          </a:custGeom>
          <a:solidFill>
            <a:srgbClr val="017069"/>
          </a:solidFill>
          <a:ln>
            <a:noFill/>
          </a:ln>
        </p:spPr>
        <p:txBody>
          <a:bodyPr spcFirstLastPara="1" wrap="square" lIns="34275" tIns="17125" rIns="34275" bIns="171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9" name="Google Shape;119;p5"/>
          <p:cNvSpPr txBox="1"/>
          <p:nvPr/>
        </p:nvSpPr>
        <p:spPr>
          <a:xfrm>
            <a:off x="434411" y="6230138"/>
            <a:ext cx="4789808"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7F7F7F"/>
                </a:solidFill>
                <a:latin typeface="Inter"/>
                <a:ea typeface="Inter"/>
                <a:cs typeface="Inter"/>
                <a:sym typeface="Inter"/>
              </a:rPr>
              <a:t>Dept of Computer Science &amp; Engineering</a:t>
            </a:r>
            <a:endParaRPr/>
          </a:p>
          <a:p>
            <a:pPr marL="0" marR="0" lvl="0" indent="0" algn="l" rtl="0">
              <a:lnSpc>
                <a:spcPct val="100000"/>
              </a:lnSpc>
              <a:spcBef>
                <a:spcPts val="0"/>
              </a:spcBef>
              <a:spcAft>
                <a:spcPts val="0"/>
              </a:spcAft>
              <a:buClr>
                <a:srgbClr val="7F7F7F"/>
              </a:buClr>
              <a:buSzPts val="1800"/>
              <a:buFont typeface="Open Sans"/>
              <a:buNone/>
            </a:pPr>
            <a:endParaRPr sz="1800" b="0" i="0" u="none" strike="noStrike" cap="none">
              <a:solidFill>
                <a:srgbClr val="7F7F7F"/>
              </a:solidFill>
              <a:latin typeface="Inter"/>
              <a:ea typeface="Inter"/>
              <a:cs typeface="Inter"/>
              <a:sym typeface="Inter"/>
            </a:endParaRPr>
          </a:p>
        </p:txBody>
      </p:sp>
      <p:pic>
        <p:nvPicPr>
          <p:cNvPr id="120" name="Google Shape;120;p5"/>
          <p:cNvPicPr preferRelativeResize="0"/>
          <p:nvPr/>
        </p:nvPicPr>
        <p:blipFill rotWithShape="1">
          <a:blip r:embed="rId3">
            <a:alphaModFix/>
          </a:blip>
          <a:srcRect/>
          <a:stretch/>
        </p:blipFill>
        <p:spPr>
          <a:xfrm>
            <a:off x="9657588" y="5780138"/>
            <a:ext cx="2100001" cy="900000"/>
          </a:xfrm>
          <a:prstGeom prst="rect">
            <a:avLst/>
          </a:prstGeom>
          <a:noFill/>
          <a:ln>
            <a:noFill/>
          </a:ln>
        </p:spPr>
      </p:pic>
      <p:pic>
        <p:nvPicPr>
          <p:cNvPr id="3" name="Picture 2">
            <a:extLst>
              <a:ext uri="{FF2B5EF4-FFF2-40B4-BE49-F238E27FC236}">
                <a16:creationId xmlns:a16="http://schemas.microsoft.com/office/drawing/2014/main" id="{66A9FEA3-90E6-B2BC-7F65-B2AB7603E473}"/>
              </a:ext>
            </a:extLst>
          </p:cNvPr>
          <p:cNvPicPr>
            <a:picLocks noChangeAspect="1"/>
          </p:cNvPicPr>
          <p:nvPr/>
        </p:nvPicPr>
        <p:blipFill>
          <a:blip r:embed="rId4"/>
          <a:stretch>
            <a:fillRect/>
          </a:stretch>
        </p:blipFill>
        <p:spPr>
          <a:xfrm>
            <a:off x="3233528" y="141754"/>
            <a:ext cx="5417439" cy="4431580"/>
          </a:xfrm>
          <a:prstGeom prst="rect">
            <a:avLst/>
          </a:prstGeom>
        </p:spPr>
      </p:pic>
      <p:sp>
        <p:nvSpPr>
          <p:cNvPr id="4" name="TextBox 3">
            <a:extLst>
              <a:ext uri="{FF2B5EF4-FFF2-40B4-BE49-F238E27FC236}">
                <a16:creationId xmlns:a16="http://schemas.microsoft.com/office/drawing/2014/main" id="{EB49A4A2-F859-6802-0979-9ED42B8E246C}"/>
              </a:ext>
            </a:extLst>
          </p:cNvPr>
          <p:cNvSpPr txBox="1"/>
          <p:nvPr/>
        </p:nvSpPr>
        <p:spPr>
          <a:xfrm>
            <a:off x="1779818" y="4690126"/>
            <a:ext cx="9134856" cy="923330"/>
          </a:xfrm>
          <a:prstGeom prst="rect">
            <a:avLst/>
          </a:prstGeom>
          <a:noFill/>
        </p:spPr>
        <p:txBody>
          <a:bodyPr wrap="square" rtlCol="0">
            <a:spAutoFit/>
          </a:bodyPr>
          <a:lstStyle/>
          <a:p>
            <a:r>
              <a:rPr lang="en-US" sz="1800" b="1" dirty="0"/>
              <a:t>Output:-The below figure shows that when an detected plate is in the prebooked list , then it gives the permission to open the gate or else it will not allow to open the gate.</a:t>
            </a:r>
            <a:endParaRPr lang="en-IN" sz="18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3D807DA5-A184-4221-170A-24EFD876F864}"/>
            </a:ext>
          </a:extLst>
        </p:cNvPr>
        <p:cNvGrpSpPr/>
        <p:nvPr/>
      </p:nvGrpSpPr>
      <p:grpSpPr>
        <a:xfrm>
          <a:off x="0" y="0"/>
          <a:ext cx="0" cy="0"/>
          <a:chOff x="0" y="0"/>
          <a:chExt cx="0" cy="0"/>
        </a:xfrm>
      </p:grpSpPr>
      <p:sp>
        <p:nvSpPr>
          <p:cNvPr id="111" name="Google Shape;111;p5">
            <a:extLst>
              <a:ext uri="{FF2B5EF4-FFF2-40B4-BE49-F238E27FC236}">
                <a16:creationId xmlns:a16="http://schemas.microsoft.com/office/drawing/2014/main" id="{F00161C5-A89D-B058-9323-460E9189A680}"/>
              </a:ext>
            </a:extLst>
          </p:cNvPr>
          <p:cNvSpPr txBox="1"/>
          <p:nvPr/>
        </p:nvSpPr>
        <p:spPr>
          <a:xfrm>
            <a:off x="3359332" y="549719"/>
            <a:ext cx="4706257" cy="86177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5000"/>
              <a:buFont typeface="Arial"/>
              <a:buNone/>
            </a:pPr>
            <a:r>
              <a:rPr lang="en-US" sz="5000" b="1" i="0" u="none" strike="noStrike" cap="none" dirty="0">
                <a:solidFill>
                  <a:srgbClr val="007367"/>
                </a:solidFill>
                <a:latin typeface="Inter"/>
                <a:ea typeface="Inter"/>
                <a:cs typeface="Inter"/>
                <a:sym typeface="Inter"/>
              </a:rPr>
              <a:t>conclusion</a:t>
            </a:r>
            <a:endParaRPr sz="1400" b="0" i="0" u="none" strike="noStrike" cap="none" dirty="0">
              <a:solidFill>
                <a:srgbClr val="000000"/>
              </a:solidFill>
              <a:latin typeface="Inter"/>
              <a:ea typeface="Inter"/>
              <a:cs typeface="Inter"/>
              <a:sym typeface="Inter"/>
            </a:endParaRPr>
          </a:p>
        </p:txBody>
      </p:sp>
      <p:sp>
        <p:nvSpPr>
          <p:cNvPr id="112" name="Google Shape;112;p5">
            <a:extLst>
              <a:ext uri="{FF2B5EF4-FFF2-40B4-BE49-F238E27FC236}">
                <a16:creationId xmlns:a16="http://schemas.microsoft.com/office/drawing/2014/main" id="{278B7589-7DF1-0762-0204-23900552E13C}"/>
              </a:ext>
            </a:extLst>
          </p:cNvPr>
          <p:cNvSpPr/>
          <p:nvPr/>
        </p:nvSpPr>
        <p:spPr>
          <a:xfrm>
            <a:off x="10692817"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3" name="Google Shape;113;p5">
            <a:extLst>
              <a:ext uri="{FF2B5EF4-FFF2-40B4-BE49-F238E27FC236}">
                <a16:creationId xmlns:a16="http://schemas.microsoft.com/office/drawing/2014/main" id="{FFEC31A6-6A63-EC5F-081B-E844D3846E0D}"/>
              </a:ext>
            </a:extLst>
          </p:cNvPr>
          <p:cNvSpPr/>
          <p:nvPr/>
        </p:nvSpPr>
        <p:spPr>
          <a:xfrm>
            <a:off x="10755442" y="423468"/>
            <a:ext cx="159232" cy="157970"/>
          </a:xfrm>
          <a:custGeom>
            <a:avLst/>
            <a:gdLst/>
            <a:ahLst/>
            <a:cxnLst/>
            <a:rect l="l" t="t" r="r" b="b"/>
            <a:pathLst>
              <a:path w="444" h="443" extrusionOk="0">
                <a:moveTo>
                  <a:pt x="257" y="257"/>
                </a:moveTo>
                <a:lnTo>
                  <a:pt x="257" y="257"/>
                </a:lnTo>
                <a:cubicBezTo>
                  <a:pt x="222" y="292"/>
                  <a:pt x="177" y="327"/>
                  <a:pt x="160" y="310"/>
                </a:cubicBezTo>
                <a:cubicBezTo>
                  <a:pt x="133" y="283"/>
                  <a:pt x="115" y="265"/>
                  <a:pt x="62" y="310"/>
                </a:cubicBezTo>
                <a:cubicBezTo>
                  <a:pt x="0" y="354"/>
                  <a:pt x="44" y="389"/>
                  <a:pt x="71" y="407"/>
                </a:cubicBezTo>
                <a:cubicBezTo>
                  <a:pt x="97" y="442"/>
                  <a:pt x="204" y="416"/>
                  <a:pt x="310" y="310"/>
                </a:cubicBezTo>
                <a:cubicBezTo>
                  <a:pt x="416" y="204"/>
                  <a:pt x="443" y="97"/>
                  <a:pt x="416" y="61"/>
                </a:cubicBezTo>
                <a:cubicBezTo>
                  <a:pt x="390" y="35"/>
                  <a:pt x="363" y="0"/>
                  <a:pt x="319" y="53"/>
                </a:cubicBezTo>
                <a:cubicBezTo>
                  <a:pt x="275" y="106"/>
                  <a:pt x="293" y="123"/>
                  <a:pt x="319" y="151"/>
                </a:cubicBezTo>
                <a:cubicBezTo>
                  <a:pt x="337" y="167"/>
                  <a:pt x="302" y="212"/>
                  <a:pt x="257" y="257"/>
                </a:cubicBezTo>
              </a:path>
            </a:pathLst>
          </a:custGeom>
          <a:solidFill>
            <a:srgbClr val="017069"/>
          </a:solidFill>
          <a:ln>
            <a:noFill/>
          </a:ln>
        </p:spPr>
        <p:txBody>
          <a:bodyPr spcFirstLastPara="1" wrap="square" lIns="34275" tIns="17125" rIns="34275" bIns="171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4" name="Google Shape;114;p5">
            <a:extLst>
              <a:ext uri="{FF2B5EF4-FFF2-40B4-BE49-F238E27FC236}">
                <a16:creationId xmlns:a16="http://schemas.microsoft.com/office/drawing/2014/main" id="{780C7068-E262-8968-EC01-C9FF6840FACB}"/>
              </a:ext>
            </a:extLst>
          </p:cNvPr>
          <p:cNvSpPr/>
          <p:nvPr/>
        </p:nvSpPr>
        <p:spPr>
          <a:xfrm>
            <a:off x="11108103"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5" name="Google Shape;115;p5">
            <a:extLst>
              <a:ext uri="{FF2B5EF4-FFF2-40B4-BE49-F238E27FC236}">
                <a16:creationId xmlns:a16="http://schemas.microsoft.com/office/drawing/2014/main" id="{C1256548-6851-8B9A-06C8-ED16B9B17400}"/>
              </a:ext>
            </a:extLst>
          </p:cNvPr>
          <p:cNvSpPr/>
          <p:nvPr/>
        </p:nvSpPr>
        <p:spPr>
          <a:xfrm>
            <a:off x="11173901" y="455187"/>
            <a:ext cx="152886" cy="94532"/>
          </a:xfrm>
          <a:custGeom>
            <a:avLst/>
            <a:gdLst/>
            <a:ahLst/>
            <a:cxnLst/>
            <a:rect l="l" t="t" r="r" b="b"/>
            <a:pathLst>
              <a:path w="461" h="285" extrusionOk="0">
                <a:moveTo>
                  <a:pt x="18" y="27"/>
                </a:moveTo>
                <a:lnTo>
                  <a:pt x="18" y="27"/>
                </a:lnTo>
                <a:cubicBezTo>
                  <a:pt x="35" y="35"/>
                  <a:pt x="203" y="125"/>
                  <a:pt x="203" y="125"/>
                </a:cubicBezTo>
                <a:cubicBezTo>
                  <a:pt x="212" y="133"/>
                  <a:pt x="221" y="133"/>
                  <a:pt x="231" y="133"/>
                </a:cubicBezTo>
                <a:cubicBezTo>
                  <a:pt x="239" y="133"/>
                  <a:pt x="248" y="133"/>
                  <a:pt x="248" y="125"/>
                </a:cubicBezTo>
                <a:cubicBezTo>
                  <a:pt x="256" y="125"/>
                  <a:pt x="425" y="35"/>
                  <a:pt x="434" y="27"/>
                </a:cubicBezTo>
                <a:cubicBezTo>
                  <a:pt x="452" y="18"/>
                  <a:pt x="460" y="0"/>
                  <a:pt x="443" y="0"/>
                </a:cubicBezTo>
                <a:cubicBezTo>
                  <a:pt x="18" y="0"/>
                  <a:pt x="18" y="0"/>
                  <a:pt x="18" y="0"/>
                </a:cubicBezTo>
                <a:cubicBezTo>
                  <a:pt x="0" y="0"/>
                  <a:pt x="9" y="18"/>
                  <a:pt x="18" y="27"/>
                </a:cubicBezTo>
                <a:close/>
                <a:moveTo>
                  <a:pt x="443" y="80"/>
                </a:moveTo>
                <a:lnTo>
                  <a:pt x="443" y="80"/>
                </a:lnTo>
                <a:cubicBezTo>
                  <a:pt x="434" y="80"/>
                  <a:pt x="256" y="169"/>
                  <a:pt x="248" y="178"/>
                </a:cubicBezTo>
                <a:cubicBezTo>
                  <a:pt x="248" y="178"/>
                  <a:pt x="239" y="178"/>
                  <a:pt x="231" y="178"/>
                </a:cubicBezTo>
                <a:cubicBezTo>
                  <a:pt x="221" y="178"/>
                  <a:pt x="212" y="178"/>
                  <a:pt x="203" y="178"/>
                </a:cubicBezTo>
                <a:cubicBezTo>
                  <a:pt x="194" y="169"/>
                  <a:pt x="27" y="80"/>
                  <a:pt x="18" y="80"/>
                </a:cubicBezTo>
                <a:cubicBezTo>
                  <a:pt x="9" y="72"/>
                  <a:pt x="9" y="80"/>
                  <a:pt x="9" y="80"/>
                </a:cubicBezTo>
                <a:cubicBezTo>
                  <a:pt x="9" y="88"/>
                  <a:pt x="9" y="266"/>
                  <a:pt x="9" y="266"/>
                </a:cubicBezTo>
                <a:cubicBezTo>
                  <a:pt x="9" y="275"/>
                  <a:pt x="18" y="284"/>
                  <a:pt x="35" y="284"/>
                </a:cubicBezTo>
                <a:cubicBezTo>
                  <a:pt x="425" y="284"/>
                  <a:pt x="425" y="284"/>
                  <a:pt x="425" y="284"/>
                </a:cubicBezTo>
                <a:cubicBezTo>
                  <a:pt x="443" y="284"/>
                  <a:pt x="452" y="275"/>
                  <a:pt x="452" y="266"/>
                </a:cubicBezTo>
                <a:cubicBezTo>
                  <a:pt x="452" y="266"/>
                  <a:pt x="452" y="88"/>
                  <a:pt x="452" y="80"/>
                </a:cubicBezTo>
                <a:cubicBezTo>
                  <a:pt x="452" y="80"/>
                  <a:pt x="452" y="72"/>
                  <a:pt x="443" y="80"/>
                </a:cubicBezTo>
                <a:close/>
              </a:path>
            </a:pathLst>
          </a:custGeom>
          <a:solidFill>
            <a:srgbClr val="017069"/>
          </a:solidFill>
          <a:ln>
            <a:noFill/>
          </a:ln>
        </p:spPr>
        <p:txBody>
          <a:bodyPr spcFirstLastPara="1" wrap="square" lIns="34275" tIns="17125" rIns="34275" bIns="171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6" name="Google Shape;116;p5">
            <a:extLst>
              <a:ext uri="{FF2B5EF4-FFF2-40B4-BE49-F238E27FC236}">
                <a16:creationId xmlns:a16="http://schemas.microsoft.com/office/drawing/2014/main" id="{F0A0AC9C-684C-F338-475D-F7FB0737A3DE}"/>
              </a:ext>
            </a:extLst>
          </p:cNvPr>
          <p:cNvSpPr/>
          <p:nvPr/>
        </p:nvSpPr>
        <p:spPr>
          <a:xfrm>
            <a:off x="11523389"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7" name="Google Shape;117;p5">
            <a:extLst>
              <a:ext uri="{FF2B5EF4-FFF2-40B4-BE49-F238E27FC236}">
                <a16:creationId xmlns:a16="http://schemas.microsoft.com/office/drawing/2014/main" id="{7C8B5DE9-5320-E6D3-F9F9-9C30AC95E77F}"/>
              </a:ext>
            </a:extLst>
          </p:cNvPr>
          <p:cNvSpPr/>
          <p:nvPr/>
        </p:nvSpPr>
        <p:spPr>
          <a:xfrm>
            <a:off x="11624228" y="414630"/>
            <a:ext cx="82804" cy="175646"/>
          </a:xfrm>
          <a:custGeom>
            <a:avLst/>
            <a:gdLst/>
            <a:ahLst/>
            <a:cxnLst/>
            <a:rect l="l" t="t" r="r" b="b"/>
            <a:pathLst>
              <a:path w="232" h="498" extrusionOk="0">
                <a:moveTo>
                  <a:pt x="178" y="0"/>
                </a:moveTo>
                <a:lnTo>
                  <a:pt x="178" y="0"/>
                </a:lnTo>
                <a:cubicBezTo>
                  <a:pt x="213" y="0"/>
                  <a:pt x="222" y="27"/>
                  <a:pt x="222" y="53"/>
                </a:cubicBezTo>
                <a:cubicBezTo>
                  <a:pt x="222" y="80"/>
                  <a:pt x="196" y="115"/>
                  <a:pt x="160" y="115"/>
                </a:cubicBezTo>
                <a:cubicBezTo>
                  <a:pt x="125" y="115"/>
                  <a:pt x="107" y="97"/>
                  <a:pt x="107" y="62"/>
                </a:cubicBezTo>
                <a:cubicBezTo>
                  <a:pt x="107" y="35"/>
                  <a:pt x="134" y="0"/>
                  <a:pt x="178" y="0"/>
                </a:cubicBezTo>
                <a:close/>
                <a:moveTo>
                  <a:pt x="72" y="497"/>
                </a:moveTo>
                <a:lnTo>
                  <a:pt x="72" y="497"/>
                </a:lnTo>
                <a:cubicBezTo>
                  <a:pt x="45" y="497"/>
                  <a:pt x="28" y="478"/>
                  <a:pt x="45" y="407"/>
                </a:cubicBezTo>
                <a:cubicBezTo>
                  <a:pt x="81" y="284"/>
                  <a:pt x="81" y="284"/>
                  <a:pt x="81" y="284"/>
                </a:cubicBezTo>
                <a:cubicBezTo>
                  <a:pt x="81" y="266"/>
                  <a:pt x="81" y="257"/>
                  <a:pt x="81" y="257"/>
                </a:cubicBezTo>
                <a:cubicBezTo>
                  <a:pt x="72" y="257"/>
                  <a:pt x="37" y="275"/>
                  <a:pt x="19" y="284"/>
                </a:cubicBezTo>
                <a:cubicBezTo>
                  <a:pt x="0" y="266"/>
                  <a:pt x="0" y="266"/>
                  <a:pt x="0" y="266"/>
                </a:cubicBezTo>
                <a:cubicBezTo>
                  <a:pt x="63" y="213"/>
                  <a:pt x="143" y="178"/>
                  <a:pt x="169" y="178"/>
                </a:cubicBezTo>
                <a:cubicBezTo>
                  <a:pt x="196" y="178"/>
                  <a:pt x="205" y="213"/>
                  <a:pt x="187" y="257"/>
                </a:cubicBezTo>
                <a:cubicBezTo>
                  <a:pt x="151" y="390"/>
                  <a:pt x="151" y="390"/>
                  <a:pt x="151" y="390"/>
                </a:cubicBezTo>
                <a:cubicBezTo>
                  <a:pt x="151" y="416"/>
                  <a:pt x="151" y="425"/>
                  <a:pt x="160" y="425"/>
                </a:cubicBezTo>
                <a:cubicBezTo>
                  <a:pt x="160" y="425"/>
                  <a:pt x="187" y="407"/>
                  <a:pt x="213" y="390"/>
                </a:cubicBezTo>
                <a:cubicBezTo>
                  <a:pt x="231" y="407"/>
                  <a:pt x="231" y="407"/>
                  <a:pt x="231" y="407"/>
                </a:cubicBezTo>
                <a:cubicBezTo>
                  <a:pt x="169" y="478"/>
                  <a:pt x="98" y="497"/>
                  <a:pt x="72" y="497"/>
                </a:cubicBezTo>
                <a:close/>
              </a:path>
            </a:pathLst>
          </a:custGeom>
          <a:solidFill>
            <a:srgbClr val="017069"/>
          </a:solidFill>
          <a:ln>
            <a:noFill/>
          </a:ln>
        </p:spPr>
        <p:txBody>
          <a:bodyPr spcFirstLastPara="1" wrap="square" lIns="34275" tIns="17125" rIns="34275" bIns="171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9" name="Google Shape;119;p5">
            <a:extLst>
              <a:ext uri="{FF2B5EF4-FFF2-40B4-BE49-F238E27FC236}">
                <a16:creationId xmlns:a16="http://schemas.microsoft.com/office/drawing/2014/main" id="{D464A2AA-0C88-7E35-031C-30F648640A93}"/>
              </a:ext>
            </a:extLst>
          </p:cNvPr>
          <p:cNvSpPr txBox="1"/>
          <p:nvPr/>
        </p:nvSpPr>
        <p:spPr>
          <a:xfrm>
            <a:off x="434411" y="6230138"/>
            <a:ext cx="4789808"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7F7F7F"/>
                </a:solidFill>
                <a:latin typeface="Inter"/>
                <a:ea typeface="Inter"/>
                <a:cs typeface="Inter"/>
                <a:sym typeface="Inter"/>
              </a:rPr>
              <a:t>Dept of Computer Science &amp; Engineering</a:t>
            </a:r>
            <a:endParaRPr/>
          </a:p>
          <a:p>
            <a:pPr marL="0" marR="0" lvl="0" indent="0" algn="l" rtl="0">
              <a:lnSpc>
                <a:spcPct val="100000"/>
              </a:lnSpc>
              <a:spcBef>
                <a:spcPts val="0"/>
              </a:spcBef>
              <a:spcAft>
                <a:spcPts val="0"/>
              </a:spcAft>
              <a:buClr>
                <a:srgbClr val="7F7F7F"/>
              </a:buClr>
              <a:buSzPts val="1800"/>
              <a:buFont typeface="Open Sans"/>
              <a:buNone/>
            </a:pPr>
            <a:endParaRPr sz="1800" b="0" i="0" u="none" strike="noStrike" cap="none">
              <a:solidFill>
                <a:srgbClr val="7F7F7F"/>
              </a:solidFill>
              <a:latin typeface="Inter"/>
              <a:ea typeface="Inter"/>
              <a:cs typeface="Inter"/>
              <a:sym typeface="Inter"/>
            </a:endParaRPr>
          </a:p>
        </p:txBody>
      </p:sp>
      <p:pic>
        <p:nvPicPr>
          <p:cNvPr id="120" name="Google Shape;120;p5">
            <a:extLst>
              <a:ext uri="{FF2B5EF4-FFF2-40B4-BE49-F238E27FC236}">
                <a16:creationId xmlns:a16="http://schemas.microsoft.com/office/drawing/2014/main" id="{A00B04F6-65C6-FBC6-1C4E-B3623E845ACC}"/>
              </a:ext>
            </a:extLst>
          </p:cNvPr>
          <p:cNvPicPr preferRelativeResize="0"/>
          <p:nvPr/>
        </p:nvPicPr>
        <p:blipFill rotWithShape="1">
          <a:blip r:embed="rId3">
            <a:alphaModFix/>
          </a:blip>
          <a:srcRect/>
          <a:stretch/>
        </p:blipFill>
        <p:spPr>
          <a:xfrm>
            <a:off x="9657588" y="5780138"/>
            <a:ext cx="2100001" cy="900000"/>
          </a:xfrm>
          <a:prstGeom prst="rect">
            <a:avLst/>
          </a:prstGeom>
          <a:noFill/>
          <a:ln>
            <a:noFill/>
          </a:ln>
        </p:spPr>
      </p:pic>
      <p:sp>
        <p:nvSpPr>
          <p:cNvPr id="2" name="TextBox 1">
            <a:extLst>
              <a:ext uri="{FF2B5EF4-FFF2-40B4-BE49-F238E27FC236}">
                <a16:creationId xmlns:a16="http://schemas.microsoft.com/office/drawing/2014/main" id="{E55BF70C-20DA-CDE4-07A0-9623AEBC367E}"/>
              </a:ext>
            </a:extLst>
          </p:cNvPr>
          <p:cNvSpPr txBox="1"/>
          <p:nvPr/>
        </p:nvSpPr>
        <p:spPr>
          <a:xfrm>
            <a:off x="1926420" y="1942881"/>
            <a:ext cx="8339160" cy="3785652"/>
          </a:xfrm>
          <a:prstGeom prst="rect">
            <a:avLst/>
          </a:prstGeom>
          <a:noFill/>
        </p:spPr>
        <p:txBody>
          <a:bodyPr wrap="square" rtlCol="0">
            <a:spAutoFit/>
          </a:bodyPr>
          <a:lstStyle/>
          <a:p>
            <a:r>
              <a:rPr lang="en-US" sz="2000" dirty="0"/>
              <a:t>This ANPR project successfully demonstrates a practical and effective solution for automated vehicle license plate recognition by combining modern deep learning techniques with robust OCR technologies. By leveraging YOLOv8 for license plate detection and integrating OCR engines like Tesseract and </a:t>
            </a:r>
            <a:r>
              <a:rPr lang="en-US" sz="2000" dirty="0" err="1"/>
              <a:t>EasyOCR</a:t>
            </a:r>
            <a:r>
              <a:rPr lang="en-US" sz="2000" dirty="0"/>
              <a:t> for text recognition, the system is capable of delivering accurate and real-time results across a variety of environments and input types. </a:t>
            </a:r>
          </a:p>
          <a:p>
            <a:endParaRPr lang="en-US" sz="2000" dirty="0"/>
          </a:p>
          <a:p>
            <a:r>
              <a:rPr lang="en-US" sz="2000" dirty="0"/>
              <a:t>In conclusion, this project lays a solid foundation for a reliable and production-ready ANPR system, offering both technical depth and practical impact in the growing domain of smart mobility and intelligent transportation systems. </a:t>
            </a:r>
            <a:endParaRPr lang="en-IN" sz="2000" dirty="0"/>
          </a:p>
        </p:txBody>
      </p:sp>
    </p:spTree>
    <p:extLst>
      <p:ext uri="{BB962C8B-B14F-4D97-AF65-F5344CB8AC3E}">
        <p14:creationId xmlns:p14="http://schemas.microsoft.com/office/powerpoint/2010/main" val="1512949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CABD691B-206A-01AB-F4D8-26652B7B172B}"/>
            </a:ext>
          </a:extLst>
        </p:cNvPr>
        <p:cNvGrpSpPr/>
        <p:nvPr/>
      </p:nvGrpSpPr>
      <p:grpSpPr>
        <a:xfrm>
          <a:off x="0" y="0"/>
          <a:ext cx="0" cy="0"/>
          <a:chOff x="0" y="0"/>
          <a:chExt cx="0" cy="0"/>
        </a:xfrm>
      </p:grpSpPr>
      <p:sp>
        <p:nvSpPr>
          <p:cNvPr id="111" name="Google Shape;111;p5">
            <a:extLst>
              <a:ext uri="{FF2B5EF4-FFF2-40B4-BE49-F238E27FC236}">
                <a16:creationId xmlns:a16="http://schemas.microsoft.com/office/drawing/2014/main" id="{48E1CA49-35E8-51F0-4529-5997EF8693A9}"/>
              </a:ext>
            </a:extLst>
          </p:cNvPr>
          <p:cNvSpPr txBox="1"/>
          <p:nvPr/>
        </p:nvSpPr>
        <p:spPr>
          <a:xfrm>
            <a:off x="707572" y="3001566"/>
            <a:ext cx="4706257" cy="86177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5000"/>
              <a:buFont typeface="Arial"/>
              <a:buNone/>
            </a:pPr>
            <a:r>
              <a:rPr lang="en-US" sz="5000" b="1" i="0" u="none" strike="noStrike" cap="none">
                <a:solidFill>
                  <a:srgbClr val="007367"/>
                </a:solidFill>
                <a:latin typeface="Inter"/>
                <a:ea typeface="Inter"/>
                <a:cs typeface="Inter"/>
                <a:sym typeface="Inter"/>
              </a:rPr>
              <a:t>Thank You</a:t>
            </a:r>
            <a:endParaRPr sz="1400" b="0" i="0" u="none" strike="noStrike" cap="none">
              <a:solidFill>
                <a:srgbClr val="000000"/>
              </a:solidFill>
              <a:latin typeface="Inter"/>
              <a:ea typeface="Inter"/>
              <a:cs typeface="Inter"/>
              <a:sym typeface="Inter"/>
            </a:endParaRPr>
          </a:p>
        </p:txBody>
      </p:sp>
      <p:sp>
        <p:nvSpPr>
          <p:cNvPr id="112" name="Google Shape;112;p5">
            <a:extLst>
              <a:ext uri="{FF2B5EF4-FFF2-40B4-BE49-F238E27FC236}">
                <a16:creationId xmlns:a16="http://schemas.microsoft.com/office/drawing/2014/main" id="{99B6F733-D4C5-5FBF-9CBF-78D256D861BE}"/>
              </a:ext>
            </a:extLst>
          </p:cNvPr>
          <p:cNvSpPr/>
          <p:nvPr/>
        </p:nvSpPr>
        <p:spPr>
          <a:xfrm>
            <a:off x="10692817"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3" name="Google Shape;113;p5">
            <a:extLst>
              <a:ext uri="{FF2B5EF4-FFF2-40B4-BE49-F238E27FC236}">
                <a16:creationId xmlns:a16="http://schemas.microsoft.com/office/drawing/2014/main" id="{57913E03-B5BE-37AC-57DC-60E3992031DC}"/>
              </a:ext>
            </a:extLst>
          </p:cNvPr>
          <p:cNvSpPr/>
          <p:nvPr/>
        </p:nvSpPr>
        <p:spPr>
          <a:xfrm>
            <a:off x="10755442" y="423468"/>
            <a:ext cx="159232" cy="157970"/>
          </a:xfrm>
          <a:custGeom>
            <a:avLst/>
            <a:gdLst/>
            <a:ahLst/>
            <a:cxnLst/>
            <a:rect l="l" t="t" r="r" b="b"/>
            <a:pathLst>
              <a:path w="444" h="443" extrusionOk="0">
                <a:moveTo>
                  <a:pt x="257" y="257"/>
                </a:moveTo>
                <a:lnTo>
                  <a:pt x="257" y="257"/>
                </a:lnTo>
                <a:cubicBezTo>
                  <a:pt x="222" y="292"/>
                  <a:pt x="177" y="327"/>
                  <a:pt x="160" y="310"/>
                </a:cubicBezTo>
                <a:cubicBezTo>
                  <a:pt x="133" y="283"/>
                  <a:pt x="115" y="265"/>
                  <a:pt x="62" y="310"/>
                </a:cubicBezTo>
                <a:cubicBezTo>
                  <a:pt x="0" y="354"/>
                  <a:pt x="44" y="389"/>
                  <a:pt x="71" y="407"/>
                </a:cubicBezTo>
                <a:cubicBezTo>
                  <a:pt x="97" y="442"/>
                  <a:pt x="204" y="416"/>
                  <a:pt x="310" y="310"/>
                </a:cubicBezTo>
                <a:cubicBezTo>
                  <a:pt x="416" y="204"/>
                  <a:pt x="443" y="97"/>
                  <a:pt x="416" y="61"/>
                </a:cubicBezTo>
                <a:cubicBezTo>
                  <a:pt x="390" y="35"/>
                  <a:pt x="363" y="0"/>
                  <a:pt x="319" y="53"/>
                </a:cubicBezTo>
                <a:cubicBezTo>
                  <a:pt x="275" y="106"/>
                  <a:pt x="293" y="123"/>
                  <a:pt x="319" y="151"/>
                </a:cubicBezTo>
                <a:cubicBezTo>
                  <a:pt x="337" y="167"/>
                  <a:pt x="302" y="212"/>
                  <a:pt x="257" y="257"/>
                </a:cubicBezTo>
              </a:path>
            </a:pathLst>
          </a:custGeom>
          <a:solidFill>
            <a:srgbClr val="017069"/>
          </a:solidFill>
          <a:ln>
            <a:noFill/>
          </a:ln>
        </p:spPr>
        <p:txBody>
          <a:bodyPr spcFirstLastPara="1" wrap="square" lIns="34275" tIns="17125" rIns="34275" bIns="171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4" name="Google Shape;114;p5">
            <a:extLst>
              <a:ext uri="{FF2B5EF4-FFF2-40B4-BE49-F238E27FC236}">
                <a16:creationId xmlns:a16="http://schemas.microsoft.com/office/drawing/2014/main" id="{ADFE5D1D-6258-8C48-1614-AECB9D73CC90}"/>
              </a:ext>
            </a:extLst>
          </p:cNvPr>
          <p:cNvSpPr/>
          <p:nvPr/>
        </p:nvSpPr>
        <p:spPr>
          <a:xfrm>
            <a:off x="11108103"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5" name="Google Shape;115;p5">
            <a:extLst>
              <a:ext uri="{FF2B5EF4-FFF2-40B4-BE49-F238E27FC236}">
                <a16:creationId xmlns:a16="http://schemas.microsoft.com/office/drawing/2014/main" id="{4F40E317-0DE3-D561-BA68-1C253E31761B}"/>
              </a:ext>
            </a:extLst>
          </p:cNvPr>
          <p:cNvSpPr/>
          <p:nvPr/>
        </p:nvSpPr>
        <p:spPr>
          <a:xfrm>
            <a:off x="11173901" y="455187"/>
            <a:ext cx="152886" cy="94532"/>
          </a:xfrm>
          <a:custGeom>
            <a:avLst/>
            <a:gdLst/>
            <a:ahLst/>
            <a:cxnLst/>
            <a:rect l="l" t="t" r="r" b="b"/>
            <a:pathLst>
              <a:path w="461" h="285" extrusionOk="0">
                <a:moveTo>
                  <a:pt x="18" y="27"/>
                </a:moveTo>
                <a:lnTo>
                  <a:pt x="18" y="27"/>
                </a:lnTo>
                <a:cubicBezTo>
                  <a:pt x="35" y="35"/>
                  <a:pt x="203" y="125"/>
                  <a:pt x="203" y="125"/>
                </a:cubicBezTo>
                <a:cubicBezTo>
                  <a:pt x="212" y="133"/>
                  <a:pt x="221" y="133"/>
                  <a:pt x="231" y="133"/>
                </a:cubicBezTo>
                <a:cubicBezTo>
                  <a:pt x="239" y="133"/>
                  <a:pt x="248" y="133"/>
                  <a:pt x="248" y="125"/>
                </a:cubicBezTo>
                <a:cubicBezTo>
                  <a:pt x="256" y="125"/>
                  <a:pt x="425" y="35"/>
                  <a:pt x="434" y="27"/>
                </a:cubicBezTo>
                <a:cubicBezTo>
                  <a:pt x="452" y="18"/>
                  <a:pt x="460" y="0"/>
                  <a:pt x="443" y="0"/>
                </a:cubicBezTo>
                <a:cubicBezTo>
                  <a:pt x="18" y="0"/>
                  <a:pt x="18" y="0"/>
                  <a:pt x="18" y="0"/>
                </a:cubicBezTo>
                <a:cubicBezTo>
                  <a:pt x="0" y="0"/>
                  <a:pt x="9" y="18"/>
                  <a:pt x="18" y="27"/>
                </a:cubicBezTo>
                <a:close/>
                <a:moveTo>
                  <a:pt x="443" y="80"/>
                </a:moveTo>
                <a:lnTo>
                  <a:pt x="443" y="80"/>
                </a:lnTo>
                <a:cubicBezTo>
                  <a:pt x="434" y="80"/>
                  <a:pt x="256" y="169"/>
                  <a:pt x="248" y="178"/>
                </a:cubicBezTo>
                <a:cubicBezTo>
                  <a:pt x="248" y="178"/>
                  <a:pt x="239" y="178"/>
                  <a:pt x="231" y="178"/>
                </a:cubicBezTo>
                <a:cubicBezTo>
                  <a:pt x="221" y="178"/>
                  <a:pt x="212" y="178"/>
                  <a:pt x="203" y="178"/>
                </a:cubicBezTo>
                <a:cubicBezTo>
                  <a:pt x="194" y="169"/>
                  <a:pt x="27" y="80"/>
                  <a:pt x="18" y="80"/>
                </a:cubicBezTo>
                <a:cubicBezTo>
                  <a:pt x="9" y="72"/>
                  <a:pt x="9" y="80"/>
                  <a:pt x="9" y="80"/>
                </a:cubicBezTo>
                <a:cubicBezTo>
                  <a:pt x="9" y="88"/>
                  <a:pt x="9" y="266"/>
                  <a:pt x="9" y="266"/>
                </a:cubicBezTo>
                <a:cubicBezTo>
                  <a:pt x="9" y="275"/>
                  <a:pt x="18" y="284"/>
                  <a:pt x="35" y="284"/>
                </a:cubicBezTo>
                <a:cubicBezTo>
                  <a:pt x="425" y="284"/>
                  <a:pt x="425" y="284"/>
                  <a:pt x="425" y="284"/>
                </a:cubicBezTo>
                <a:cubicBezTo>
                  <a:pt x="443" y="284"/>
                  <a:pt x="452" y="275"/>
                  <a:pt x="452" y="266"/>
                </a:cubicBezTo>
                <a:cubicBezTo>
                  <a:pt x="452" y="266"/>
                  <a:pt x="452" y="88"/>
                  <a:pt x="452" y="80"/>
                </a:cubicBezTo>
                <a:cubicBezTo>
                  <a:pt x="452" y="80"/>
                  <a:pt x="452" y="72"/>
                  <a:pt x="443" y="80"/>
                </a:cubicBezTo>
                <a:close/>
              </a:path>
            </a:pathLst>
          </a:custGeom>
          <a:solidFill>
            <a:srgbClr val="017069"/>
          </a:solidFill>
          <a:ln>
            <a:noFill/>
          </a:ln>
        </p:spPr>
        <p:txBody>
          <a:bodyPr spcFirstLastPara="1" wrap="square" lIns="34275" tIns="17125" rIns="34275" bIns="171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6" name="Google Shape;116;p5">
            <a:extLst>
              <a:ext uri="{FF2B5EF4-FFF2-40B4-BE49-F238E27FC236}">
                <a16:creationId xmlns:a16="http://schemas.microsoft.com/office/drawing/2014/main" id="{C7648FF8-5287-C7DF-EEA9-52F7C213CD11}"/>
              </a:ext>
            </a:extLst>
          </p:cNvPr>
          <p:cNvSpPr/>
          <p:nvPr/>
        </p:nvSpPr>
        <p:spPr>
          <a:xfrm>
            <a:off x="11523389"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7" name="Google Shape;117;p5">
            <a:extLst>
              <a:ext uri="{FF2B5EF4-FFF2-40B4-BE49-F238E27FC236}">
                <a16:creationId xmlns:a16="http://schemas.microsoft.com/office/drawing/2014/main" id="{553D5ADF-2418-B559-F941-AEC55C5CDA6B}"/>
              </a:ext>
            </a:extLst>
          </p:cNvPr>
          <p:cNvSpPr/>
          <p:nvPr/>
        </p:nvSpPr>
        <p:spPr>
          <a:xfrm>
            <a:off x="11624228" y="414630"/>
            <a:ext cx="82804" cy="175646"/>
          </a:xfrm>
          <a:custGeom>
            <a:avLst/>
            <a:gdLst/>
            <a:ahLst/>
            <a:cxnLst/>
            <a:rect l="l" t="t" r="r" b="b"/>
            <a:pathLst>
              <a:path w="232" h="498" extrusionOk="0">
                <a:moveTo>
                  <a:pt x="178" y="0"/>
                </a:moveTo>
                <a:lnTo>
                  <a:pt x="178" y="0"/>
                </a:lnTo>
                <a:cubicBezTo>
                  <a:pt x="213" y="0"/>
                  <a:pt x="222" y="27"/>
                  <a:pt x="222" y="53"/>
                </a:cubicBezTo>
                <a:cubicBezTo>
                  <a:pt x="222" y="80"/>
                  <a:pt x="196" y="115"/>
                  <a:pt x="160" y="115"/>
                </a:cubicBezTo>
                <a:cubicBezTo>
                  <a:pt x="125" y="115"/>
                  <a:pt x="107" y="97"/>
                  <a:pt x="107" y="62"/>
                </a:cubicBezTo>
                <a:cubicBezTo>
                  <a:pt x="107" y="35"/>
                  <a:pt x="134" y="0"/>
                  <a:pt x="178" y="0"/>
                </a:cubicBezTo>
                <a:close/>
                <a:moveTo>
                  <a:pt x="72" y="497"/>
                </a:moveTo>
                <a:lnTo>
                  <a:pt x="72" y="497"/>
                </a:lnTo>
                <a:cubicBezTo>
                  <a:pt x="45" y="497"/>
                  <a:pt x="28" y="478"/>
                  <a:pt x="45" y="407"/>
                </a:cubicBezTo>
                <a:cubicBezTo>
                  <a:pt x="81" y="284"/>
                  <a:pt x="81" y="284"/>
                  <a:pt x="81" y="284"/>
                </a:cubicBezTo>
                <a:cubicBezTo>
                  <a:pt x="81" y="266"/>
                  <a:pt x="81" y="257"/>
                  <a:pt x="81" y="257"/>
                </a:cubicBezTo>
                <a:cubicBezTo>
                  <a:pt x="72" y="257"/>
                  <a:pt x="37" y="275"/>
                  <a:pt x="19" y="284"/>
                </a:cubicBezTo>
                <a:cubicBezTo>
                  <a:pt x="0" y="266"/>
                  <a:pt x="0" y="266"/>
                  <a:pt x="0" y="266"/>
                </a:cubicBezTo>
                <a:cubicBezTo>
                  <a:pt x="63" y="213"/>
                  <a:pt x="143" y="178"/>
                  <a:pt x="169" y="178"/>
                </a:cubicBezTo>
                <a:cubicBezTo>
                  <a:pt x="196" y="178"/>
                  <a:pt x="205" y="213"/>
                  <a:pt x="187" y="257"/>
                </a:cubicBezTo>
                <a:cubicBezTo>
                  <a:pt x="151" y="390"/>
                  <a:pt x="151" y="390"/>
                  <a:pt x="151" y="390"/>
                </a:cubicBezTo>
                <a:cubicBezTo>
                  <a:pt x="151" y="416"/>
                  <a:pt x="151" y="425"/>
                  <a:pt x="160" y="425"/>
                </a:cubicBezTo>
                <a:cubicBezTo>
                  <a:pt x="160" y="425"/>
                  <a:pt x="187" y="407"/>
                  <a:pt x="213" y="390"/>
                </a:cubicBezTo>
                <a:cubicBezTo>
                  <a:pt x="231" y="407"/>
                  <a:pt x="231" y="407"/>
                  <a:pt x="231" y="407"/>
                </a:cubicBezTo>
                <a:cubicBezTo>
                  <a:pt x="169" y="478"/>
                  <a:pt x="98" y="497"/>
                  <a:pt x="72" y="497"/>
                </a:cubicBezTo>
                <a:close/>
              </a:path>
            </a:pathLst>
          </a:custGeom>
          <a:solidFill>
            <a:srgbClr val="017069"/>
          </a:solidFill>
          <a:ln>
            <a:noFill/>
          </a:ln>
        </p:spPr>
        <p:txBody>
          <a:bodyPr spcFirstLastPara="1" wrap="square" lIns="34275" tIns="17125" rIns="34275" bIns="171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23672"/>
              </a:solidFill>
              <a:latin typeface="Play"/>
              <a:ea typeface="Play"/>
              <a:cs typeface="Play"/>
              <a:sym typeface="Play"/>
            </a:endParaRPr>
          </a:p>
        </p:txBody>
      </p:sp>
      <p:sp>
        <p:nvSpPr>
          <p:cNvPr id="118" name="Google Shape;118;p5">
            <a:extLst>
              <a:ext uri="{FF2B5EF4-FFF2-40B4-BE49-F238E27FC236}">
                <a16:creationId xmlns:a16="http://schemas.microsoft.com/office/drawing/2014/main" id="{4AF09F70-B7C5-0CEF-7839-56489CBD0E7B}"/>
              </a:ext>
            </a:extLst>
          </p:cNvPr>
          <p:cNvSpPr/>
          <p:nvPr/>
        </p:nvSpPr>
        <p:spPr>
          <a:xfrm>
            <a:off x="783772" y="2945605"/>
            <a:ext cx="899884" cy="52507"/>
          </a:xfrm>
          <a:prstGeom prst="rect">
            <a:avLst/>
          </a:prstGeom>
          <a:solidFill>
            <a:srgbClr val="A582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9" name="Google Shape;119;p5">
            <a:extLst>
              <a:ext uri="{FF2B5EF4-FFF2-40B4-BE49-F238E27FC236}">
                <a16:creationId xmlns:a16="http://schemas.microsoft.com/office/drawing/2014/main" id="{BECA192B-9BE9-E648-D653-2D25806B8570}"/>
              </a:ext>
            </a:extLst>
          </p:cNvPr>
          <p:cNvSpPr txBox="1"/>
          <p:nvPr/>
        </p:nvSpPr>
        <p:spPr>
          <a:xfrm>
            <a:off x="434411" y="6230138"/>
            <a:ext cx="4789808"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7F7F7F"/>
                </a:solidFill>
                <a:latin typeface="Inter"/>
                <a:ea typeface="Inter"/>
                <a:cs typeface="Inter"/>
                <a:sym typeface="Inter"/>
              </a:rPr>
              <a:t>Dept of Computer Science &amp; Engineering</a:t>
            </a:r>
            <a:endParaRPr/>
          </a:p>
          <a:p>
            <a:pPr marL="0" marR="0" lvl="0" indent="0" algn="l" rtl="0">
              <a:lnSpc>
                <a:spcPct val="100000"/>
              </a:lnSpc>
              <a:spcBef>
                <a:spcPts val="0"/>
              </a:spcBef>
              <a:spcAft>
                <a:spcPts val="0"/>
              </a:spcAft>
              <a:buClr>
                <a:srgbClr val="7F7F7F"/>
              </a:buClr>
              <a:buSzPts val="1800"/>
              <a:buFont typeface="Open Sans"/>
              <a:buNone/>
            </a:pPr>
            <a:endParaRPr sz="1800" b="0" i="0" u="none" strike="noStrike" cap="none">
              <a:solidFill>
                <a:srgbClr val="7F7F7F"/>
              </a:solidFill>
              <a:latin typeface="Inter"/>
              <a:ea typeface="Inter"/>
              <a:cs typeface="Inter"/>
              <a:sym typeface="Inter"/>
            </a:endParaRPr>
          </a:p>
        </p:txBody>
      </p:sp>
      <p:pic>
        <p:nvPicPr>
          <p:cNvPr id="120" name="Google Shape;120;p5">
            <a:extLst>
              <a:ext uri="{FF2B5EF4-FFF2-40B4-BE49-F238E27FC236}">
                <a16:creationId xmlns:a16="http://schemas.microsoft.com/office/drawing/2014/main" id="{A3AD92A6-2D01-A20F-B4D6-6CB66EE8B111}"/>
              </a:ext>
            </a:extLst>
          </p:cNvPr>
          <p:cNvPicPr preferRelativeResize="0"/>
          <p:nvPr/>
        </p:nvPicPr>
        <p:blipFill rotWithShape="1">
          <a:blip r:embed="rId3">
            <a:alphaModFix/>
          </a:blip>
          <a:srcRect/>
          <a:stretch/>
        </p:blipFill>
        <p:spPr>
          <a:xfrm>
            <a:off x="9657588" y="5780138"/>
            <a:ext cx="2100001" cy="900000"/>
          </a:xfrm>
          <a:prstGeom prst="rect">
            <a:avLst/>
          </a:prstGeom>
          <a:noFill/>
          <a:ln>
            <a:noFill/>
          </a:ln>
        </p:spPr>
      </p:pic>
    </p:spTree>
    <p:extLst>
      <p:ext uri="{BB962C8B-B14F-4D97-AF65-F5344CB8AC3E}">
        <p14:creationId xmlns:p14="http://schemas.microsoft.com/office/powerpoint/2010/main" val="3854017047"/>
      </p:ext>
    </p:extLst>
  </p:cSld>
  <p:clrMapOvr>
    <a:masterClrMapping/>
  </p:clrMapOvr>
</p:sld>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TotalTime>
  <Words>537</Words>
  <Application>Microsoft Office PowerPoint</Application>
  <PresentationFormat>Widescreen</PresentationFormat>
  <Paragraphs>52</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Calibri</vt:lpstr>
      <vt:lpstr>Plus Jakarta Sans</vt:lpstr>
      <vt:lpstr>Times New Roman</vt:lpstr>
      <vt:lpstr>Play</vt:lpstr>
      <vt:lpstr>Open Sans</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C H uday Kumar reddy</cp:lastModifiedBy>
  <cp:revision>8</cp:revision>
  <dcterms:created xsi:type="dcterms:W3CDTF">2022-05-23T07:15:42Z</dcterms:created>
  <dcterms:modified xsi:type="dcterms:W3CDTF">2025-07-28T16:31:42Z</dcterms:modified>
</cp:coreProperties>
</file>